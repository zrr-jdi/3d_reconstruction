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625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4:50-d3l4kegs8jdo4os5emqg.jpg"/>
          <p:cNvPicPr>
            <a:picLocks noChangeAspect="1"/>
          </p:cNvPicPr>
          <p:nvPr/>
        </p:nvPicPr>
        <p:blipFill>
          <a:blip r:embed="rId3"/>
          <a:srcRect t="83" b="8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4:39-d3l4kbos8jdo4os5emk0.png"/>
          <p:cNvPicPr>
            <a:picLocks noChangeAspect="1"/>
          </p:cNvPicPr>
          <p:nvPr/>
        </p:nvPicPr>
        <p:blipFill>
          <a:blip r:embed="rId4"/>
          <a:srcRect l="11" r="11"/>
          <a:stretch/>
        </p:blipFill>
        <p:spPr>
          <a:xfrm>
            <a:off x="5560060" y="655320"/>
            <a:ext cx="6177915" cy="55479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11530" y="5525135"/>
            <a:ext cx="2584450" cy="2209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811530" y="5525135"/>
            <a:ext cx="258445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汇报人：Kimi AI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11530" y="5885815"/>
            <a:ext cx="2585085" cy="270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汇报日期：2025/01/01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241309" y="5912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41309" y="5912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241309" y="6009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241309" y="6009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241309" y="6106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241309" y="6106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>
            <a:off x="869237" y="3090256"/>
            <a:ext cx="0" cy="225933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626745" y="1553210"/>
            <a:ext cx="6487795" cy="14370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多视觉融合三维重建平台设计报告</a:t>
            </a:r>
            <a:endParaRPr lang="en-US" sz="1600" dirty="0"/>
          </a:p>
        </p:txBody>
      </p:sp>
      <p:pic>
        <p:nvPicPr>
          <p:cNvPr id="15" name="Image 2" descr="https://kimi-img.moonshot.cn/pub/slides/slides_tmpl/image/25-10-11-20:14:39-d3l4kbos8jdo4os5emj0.png"/>
          <p:cNvPicPr>
            <a:picLocks noChangeAspect="1"/>
          </p:cNvPicPr>
          <p:nvPr/>
        </p:nvPicPr>
        <p:blipFill>
          <a:blip r:embed="rId5"/>
          <a:srcRect l="38935" t="-7643" r="-13148" b="-18048"/>
          <a:stretch/>
        </p:blipFill>
        <p:spPr>
          <a:xfrm>
            <a:off x="0" y="5525135"/>
            <a:ext cx="734695" cy="1242695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10-11-20:14:39-d3l4kbos8jdo4os5emig.jpg"/>
          <p:cNvPicPr>
            <a:picLocks noChangeAspect="1"/>
          </p:cNvPicPr>
          <p:nvPr/>
        </p:nvPicPr>
        <p:blipFill>
          <a:blip r:embed="rId6"/>
          <a:srcRect t="573" b="573"/>
          <a:stretch/>
        </p:blipFill>
        <p:spPr>
          <a:xfrm>
            <a:off x="0" y="0"/>
            <a:ext cx="276860" cy="176657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10-11-20:14:39-d3l4kbos8jdo4os5emig.jpg"/>
          <p:cNvPicPr>
            <a:picLocks noChangeAspect="1"/>
          </p:cNvPicPr>
          <p:nvPr/>
        </p:nvPicPr>
        <p:blipFill>
          <a:blip r:embed="rId6"/>
          <a:srcRect t="573" b="573"/>
          <a:stretch/>
        </p:blipFill>
        <p:spPr>
          <a:xfrm>
            <a:off x="11915140" y="5084445"/>
            <a:ext cx="276860" cy="1766570"/>
          </a:xfrm>
          <a:prstGeom prst="rect">
            <a:avLst/>
          </a:prstGeom>
        </p:spPr>
      </p:pic>
      <p:pic>
        <p:nvPicPr>
          <p:cNvPr id="18" name="Image 5" descr="https://kimi-img.moonshot.cn/pub/slides/slides_tmpl/image/25-10-11-20:14:40-d3l4kc0s8jdo4os5eml0.png"/>
          <p:cNvPicPr>
            <a:picLocks noChangeAspect="1"/>
          </p:cNvPicPr>
          <p:nvPr/>
        </p:nvPicPr>
        <p:blipFill>
          <a:blip r:embed="rId7"/>
          <a:srcRect t="9" b="9"/>
          <a:stretch/>
        </p:blipFill>
        <p:spPr>
          <a:xfrm>
            <a:off x="5897880" y="2578735"/>
            <a:ext cx="3540760" cy="35407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4:40-d3l4kc0s8jdo4os5emkg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9136" r="9136"/>
          <a:stretch/>
        </p:blipFill>
        <p:spPr>
          <a:xfrm>
            <a:off x="6566535" y="3752215"/>
            <a:ext cx="4209415" cy="180022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4:40-d3l4kc0s8jdo4os5emkg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9136" r="9136"/>
          <a:stretch/>
        </p:blipFill>
        <p:spPr>
          <a:xfrm>
            <a:off x="2242185" y="3752215"/>
            <a:ext cx="4209415" cy="180022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4:40-d3l4kc0s8jdo4os5emkg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9136" r="9136"/>
          <a:stretch/>
        </p:blipFill>
        <p:spPr>
          <a:xfrm>
            <a:off x="2242185" y="1824990"/>
            <a:ext cx="4209415" cy="180022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11-20:14:40-d3l4kc0s8jdo4os5emkg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9136" r="9136"/>
          <a:stretch/>
        </p:blipFill>
        <p:spPr>
          <a:xfrm>
            <a:off x="6566535" y="1801495"/>
            <a:ext cx="4209415" cy="180022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606473" y="2840797"/>
            <a:ext cx="284480" cy="60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7" name="Text 1"/>
          <p:cNvSpPr/>
          <p:nvPr/>
        </p:nvSpPr>
        <p:spPr>
          <a:xfrm>
            <a:off x="2606473" y="2840797"/>
            <a:ext cx="284480" cy="60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2"/>
          <p:cNvSpPr/>
          <p:nvPr/>
        </p:nvSpPr>
        <p:spPr>
          <a:xfrm>
            <a:off x="2606473" y="4704796"/>
            <a:ext cx="284480" cy="60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9" name="Text 3"/>
          <p:cNvSpPr/>
          <p:nvPr/>
        </p:nvSpPr>
        <p:spPr>
          <a:xfrm>
            <a:off x="2606473" y="4704796"/>
            <a:ext cx="284480" cy="60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6897013" y="2853588"/>
            <a:ext cx="284480" cy="60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1" name="Text 5"/>
          <p:cNvSpPr/>
          <p:nvPr/>
        </p:nvSpPr>
        <p:spPr>
          <a:xfrm>
            <a:off x="6897013" y="2853588"/>
            <a:ext cx="284480" cy="60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897013" y="4717587"/>
            <a:ext cx="284480" cy="60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3" name="Text 7"/>
          <p:cNvSpPr/>
          <p:nvPr/>
        </p:nvSpPr>
        <p:spPr>
          <a:xfrm>
            <a:off x="6897013" y="4717587"/>
            <a:ext cx="284480" cy="60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941705" y="941070"/>
            <a:ext cx="1073785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941705" y="941070"/>
            <a:ext cx="10737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40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 rot="5400000">
            <a:off x="-511175" y="3427730"/>
            <a:ext cx="387731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17" name="Image 4" descr="https://kimi-img.moonshot.cn/pub/slides/slides_tmpl/image/25-10-11-20:14:39-d3l4kbos8jdo4os5emj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947400" y="897890"/>
            <a:ext cx="762000" cy="76200"/>
          </a:xfrm>
          <a:prstGeom prst="rect">
            <a:avLst/>
          </a:prstGeom>
        </p:spPr>
      </p:pic>
      <p:pic>
        <p:nvPicPr>
          <p:cNvPr id="18" name="Image 5" descr="https://kimi-img.moonshot.cn/pub/slides/slides_tmpl/image/25-10-11-20:14:39-d3l4kbos8jdo4os5emj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947400" y="1028700"/>
            <a:ext cx="762000" cy="76200"/>
          </a:xfrm>
          <a:prstGeom prst="rect">
            <a:avLst/>
          </a:prstGeom>
        </p:spPr>
      </p:pic>
      <p:pic>
        <p:nvPicPr>
          <p:cNvPr id="19" name="Image 6" descr="https://kimi-img.moonshot.cn/pub/slides/slides_tmpl/image/25-10-11-20:14:39-d3l4kbos8jdo4os5emig.jpg"/>
          <p:cNvPicPr>
            <a:picLocks noChangeAspect="1"/>
          </p:cNvPicPr>
          <p:nvPr/>
        </p:nvPicPr>
        <p:blipFill>
          <a:blip r:embed="rId6"/>
          <a:srcRect t="573" b="573"/>
          <a:stretch/>
        </p:blipFill>
        <p:spPr>
          <a:xfrm>
            <a:off x="0" y="0"/>
            <a:ext cx="276860" cy="1766570"/>
          </a:xfrm>
          <a:prstGeom prst="rect">
            <a:avLst/>
          </a:prstGeom>
        </p:spPr>
      </p:pic>
      <p:pic>
        <p:nvPicPr>
          <p:cNvPr id="20" name="Image 7" descr="https://kimi-img.moonshot.cn/pub/slides/slides_tmpl/image/25-10-11-20:14:39-d3l4kbos8jdo4os5emj0.png"/>
          <p:cNvPicPr>
            <a:picLocks noChangeAspect="1"/>
          </p:cNvPicPr>
          <p:nvPr/>
        </p:nvPicPr>
        <p:blipFill>
          <a:blip r:embed="rId7"/>
          <a:srcRect l="48434" t="-16661" r="-22647" b="-9030"/>
          <a:stretch/>
        </p:blipFill>
        <p:spPr>
          <a:xfrm flipH="1">
            <a:off x="10842625" y="3303270"/>
            <a:ext cx="1349375" cy="228346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2505710" y="1993265"/>
            <a:ext cx="99822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2505710" y="3011170"/>
            <a:ext cx="3813810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项目概览</a:t>
            </a:r>
            <a:endParaRPr lang="en-US" sz="1600" dirty="0"/>
          </a:p>
        </p:txBody>
      </p:sp>
      <p:sp>
        <p:nvSpPr>
          <p:cNvPr id="23" name="Text 13"/>
          <p:cNvSpPr/>
          <p:nvPr/>
        </p:nvSpPr>
        <p:spPr>
          <a:xfrm>
            <a:off x="6782435" y="2005965"/>
            <a:ext cx="109410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4" name="Text 14"/>
          <p:cNvSpPr/>
          <p:nvPr/>
        </p:nvSpPr>
        <p:spPr>
          <a:xfrm>
            <a:off x="6782435" y="2995930"/>
            <a:ext cx="3813810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 err="1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</a:t>
            </a:r>
            <a:r>
              <a:rPr lang="zh-CN" altLang="en-US" sz="20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</a:t>
            </a:r>
            <a:endParaRPr lang="en-US" sz="1600" dirty="0"/>
          </a:p>
        </p:txBody>
      </p:sp>
      <p:sp>
        <p:nvSpPr>
          <p:cNvPr id="25" name="Text 15"/>
          <p:cNvSpPr/>
          <p:nvPr/>
        </p:nvSpPr>
        <p:spPr>
          <a:xfrm>
            <a:off x="2470785" y="3856355"/>
            <a:ext cx="103314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2505710" y="4875530"/>
            <a:ext cx="3814445" cy="41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</a:rPr>
              <a:t>系统设计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6782435" y="3869690"/>
            <a:ext cx="119697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6802120" y="4875530"/>
            <a:ext cx="3814445" cy="41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4:40-d3l4kc0s8jdo4os5emkg.png"/>
          <p:cNvPicPr>
            <a:picLocks noChangeAspect="1"/>
          </p:cNvPicPr>
          <p:nvPr/>
        </p:nvPicPr>
        <p:blipFill>
          <a:blip r:embed="rId4"/>
          <a:srcRect t="28475" b="28475"/>
          <a:stretch/>
        </p:blipFill>
        <p:spPr>
          <a:xfrm>
            <a:off x="0" y="2468880"/>
            <a:ext cx="12191365" cy="1835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175" y="3133090"/>
            <a:ext cx="66065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项目概览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4:39-d3l4kbos8jdo4os5emj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896600" y="897890"/>
            <a:ext cx="762000" cy="762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4:39-d3l4kbos8jdo4os5emj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896600" y="1028700"/>
            <a:ext cx="762000" cy="762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03814" y="5686046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803814" y="5686046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803814" y="5783020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03814" y="578302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803814" y="5879994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03814" y="587999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3" descr="https://kimi-img.moonshot.cn/pub/slides/slides_tmpl/image/25-10-11-20:14:39-d3l4kbos8jdo4os5emj0.png"/>
          <p:cNvPicPr>
            <a:picLocks noChangeAspect="1"/>
          </p:cNvPicPr>
          <p:nvPr/>
        </p:nvPicPr>
        <p:blipFill>
          <a:blip r:embed="rId6"/>
          <a:srcRect l="423" r="423"/>
          <a:stretch/>
        </p:blipFill>
        <p:spPr>
          <a:xfrm flipH="1">
            <a:off x="7372350" y="1739900"/>
            <a:ext cx="3202305" cy="32289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64032" y="2654935"/>
            <a:ext cx="1618942" cy="1398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1041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项目信息与小组成员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2006600"/>
            <a:ext cx="9753600" cy="1066800"/>
          </a:xfrm>
          <a:custGeom>
            <a:avLst/>
            <a:gdLst/>
            <a:ahLst/>
            <a:cxnLst/>
            <a:rect l="l" t="t" r="r" b="b"/>
            <a:pathLst>
              <a:path w="9753600" h="1066800">
                <a:moveTo>
                  <a:pt x="101602" y="0"/>
                </a:moveTo>
                <a:lnTo>
                  <a:pt x="9651998" y="0"/>
                </a:lnTo>
                <a:cubicBezTo>
                  <a:pt x="9708111" y="0"/>
                  <a:pt x="9753600" y="45489"/>
                  <a:pt x="9753600" y="101602"/>
                </a:cubicBezTo>
                <a:lnTo>
                  <a:pt x="9753600" y="965198"/>
                </a:lnTo>
                <a:cubicBezTo>
                  <a:pt x="9753600" y="1021311"/>
                  <a:pt x="9708111" y="1066800"/>
                  <a:pt x="96519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09600" y="23579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2D6898"/>
          </a:solidFill>
          <a:ln/>
        </p:spPr>
      </p:sp>
      <p:sp>
        <p:nvSpPr>
          <p:cNvPr id="8" name="Text 5"/>
          <p:cNvSpPr/>
          <p:nvPr/>
        </p:nvSpPr>
        <p:spPr>
          <a:xfrm>
            <a:off x="1270000" y="2209800"/>
            <a:ext cx="294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D68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70000" y="25654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多视觉融合的三维平台搭建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4000" y="3378200"/>
            <a:ext cx="9753600" cy="1066800"/>
          </a:xfrm>
          <a:custGeom>
            <a:avLst/>
            <a:gdLst/>
            <a:ahLst/>
            <a:cxnLst/>
            <a:rect l="l" t="t" r="r" b="b"/>
            <a:pathLst>
              <a:path w="9753600" h="1066800">
                <a:moveTo>
                  <a:pt x="101602" y="0"/>
                </a:moveTo>
                <a:lnTo>
                  <a:pt x="9651998" y="0"/>
                </a:lnTo>
                <a:cubicBezTo>
                  <a:pt x="9708111" y="0"/>
                  <a:pt x="9753600" y="45489"/>
                  <a:pt x="9753600" y="101602"/>
                </a:cubicBezTo>
                <a:lnTo>
                  <a:pt x="9753600" y="965198"/>
                </a:lnTo>
                <a:cubicBezTo>
                  <a:pt x="9753600" y="1021311"/>
                  <a:pt x="9708111" y="1066800"/>
                  <a:pt x="96519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3729567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2D6898"/>
          </a:solidFill>
          <a:ln/>
        </p:spPr>
      </p:sp>
      <p:sp>
        <p:nvSpPr>
          <p:cNvPr id="12" name="Text 9"/>
          <p:cNvSpPr/>
          <p:nvPr/>
        </p:nvSpPr>
        <p:spPr>
          <a:xfrm>
            <a:off x="1270000" y="3581400"/>
            <a:ext cx="335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D68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小组成员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70000" y="39370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丁时伟，刘江，周日胜，宋均炜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54000" y="4749800"/>
            <a:ext cx="9753600" cy="1066800"/>
          </a:xfrm>
          <a:custGeom>
            <a:avLst/>
            <a:gdLst/>
            <a:ahLst/>
            <a:cxnLst/>
            <a:rect l="l" t="t" r="r" b="b"/>
            <a:pathLst>
              <a:path w="9753600" h="1066800">
                <a:moveTo>
                  <a:pt x="101602" y="0"/>
                </a:moveTo>
                <a:lnTo>
                  <a:pt x="9651998" y="0"/>
                </a:lnTo>
                <a:cubicBezTo>
                  <a:pt x="9708111" y="0"/>
                  <a:pt x="9753600" y="45489"/>
                  <a:pt x="9753600" y="101602"/>
                </a:cubicBezTo>
                <a:lnTo>
                  <a:pt x="9753600" y="965198"/>
                </a:lnTo>
                <a:cubicBezTo>
                  <a:pt x="9753600" y="1021311"/>
                  <a:pt x="9708111" y="1066800"/>
                  <a:pt x="96519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28650" y="5101167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93923" y="147638"/>
                  <a:pt x="61913" y="115627"/>
                  <a:pt x="61912" y="76200"/>
                </a:cubicBezTo>
                <a:cubicBezTo>
                  <a:pt x="61912" y="36773"/>
                  <a:pt x="93923" y="4763"/>
                  <a:pt x="133350" y="4763"/>
                </a:cubicBezTo>
                <a:cubicBezTo>
                  <a:pt x="172777" y="4763"/>
                  <a:pt x="204787" y="36773"/>
                  <a:pt x="204787" y="76200"/>
                </a:cubicBezTo>
                <a:cubicBezTo>
                  <a:pt x="204787" y="115627"/>
                  <a:pt x="172777" y="147638"/>
                  <a:pt x="133350" y="147638"/>
                </a:cubicBezTo>
                <a:close/>
                <a:moveTo>
                  <a:pt x="115193" y="180975"/>
                </a:moveTo>
                <a:lnTo>
                  <a:pt x="151507" y="180975"/>
                </a:lnTo>
                <a:cubicBezTo>
                  <a:pt x="157282" y="180975"/>
                  <a:pt x="161925" y="185618"/>
                  <a:pt x="161925" y="191393"/>
                </a:cubicBezTo>
                <a:cubicBezTo>
                  <a:pt x="161925" y="193893"/>
                  <a:pt x="161032" y="196275"/>
                  <a:pt x="159425" y="198180"/>
                </a:cubicBezTo>
                <a:lnTo>
                  <a:pt x="143113" y="217230"/>
                </a:lnTo>
                <a:lnTo>
                  <a:pt x="161568" y="285750"/>
                </a:lnTo>
                <a:lnTo>
                  <a:pt x="161925" y="285750"/>
                </a:lnTo>
                <a:lnTo>
                  <a:pt x="182523" y="203299"/>
                </a:lnTo>
                <a:cubicBezTo>
                  <a:pt x="183833" y="198120"/>
                  <a:pt x="189131" y="194965"/>
                  <a:pt x="194131" y="196870"/>
                </a:cubicBezTo>
                <a:cubicBezTo>
                  <a:pt x="230981" y="210919"/>
                  <a:pt x="257175" y="246638"/>
                  <a:pt x="257175" y="288429"/>
                </a:cubicBezTo>
                <a:cubicBezTo>
                  <a:pt x="257175" y="297418"/>
                  <a:pt x="249853" y="304740"/>
                  <a:pt x="240863" y="304740"/>
                </a:cubicBezTo>
                <a:lnTo>
                  <a:pt x="25837" y="304800"/>
                </a:lnTo>
                <a:cubicBezTo>
                  <a:pt x="16847" y="304800"/>
                  <a:pt x="9525" y="297478"/>
                  <a:pt x="9525" y="288488"/>
                </a:cubicBezTo>
                <a:cubicBezTo>
                  <a:pt x="9525" y="246698"/>
                  <a:pt x="35719" y="210979"/>
                  <a:pt x="72569" y="196929"/>
                </a:cubicBezTo>
                <a:cubicBezTo>
                  <a:pt x="77569" y="195024"/>
                  <a:pt x="82868" y="198180"/>
                  <a:pt x="84177" y="203359"/>
                </a:cubicBezTo>
                <a:lnTo>
                  <a:pt x="104775" y="285810"/>
                </a:lnTo>
                <a:lnTo>
                  <a:pt x="105132" y="285810"/>
                </a:lnTo>
                <a:lnTo>
                  <a:pt x="123587" y="217289"/>
                </a:lnTo>
                <a:lnTo>
                  <a:pt x="107275" y="198239"/>
                </a:lnTo>
                <a:cubicBezTo>
                  <a:pt x="105668" y="196334"/>
                  <a:pt x="104775" y="193953"/>
                  <a:pt x="104775" y="191453"/>
                </a:cubicBezTo>
                <a:cubicBezTo>
                  <a:pt x="104775" y="185678"/>
                  <a:pt x="109418" y="181035"/>
                  <a:pt x="115193" y="181035"/>
                </a:cubicBezTo>
                <a:close/>
              </a:path>
            </a:pathLst>
          </a:custGeom>
          <a:solidFill>
            <a:srgbClr val="2D6898"/>
          </a:solidFill>
          <a:ln/>
        </p:spPr>
      </p:sp>
      <p:sp>
        <p:nvSpPr>
          <p:cNvPr id="16" name="Text 13"/>
          <p:cNvSpPr/>
          <p:nvPr/>
        </p:nvSpPr>
        <p:spPr>
          <a:xfrm>
            <a:off x="1270000" y="49530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D68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指导老师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70000" y="53086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王庆先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 err="1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目标、背景与系统功能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1016000"/>
            <a:ext cx="3695700" cy="5588000"/>
          </a:xfrm>
          <a:custGeom>
            <a:avLst/>
            <a:gdLst/>
            <a:ahLst/>
            <a:cxnLst/>
            <a:rect l="l" t="t" r="r" b="b"/>
            <a:pathLst>
              <a:path w="3695700" h="5588000">
                <a:moveTo>
                  <a:pt x="101595" y="0"/>
                </a:moveTo>
                <a:lnTo>
                  <a:pt x="3594105" y="0"/>
                </a:lnTo>
                <a:cubicBezTo>
                  <a:pt x="3650214" y="0"/>
                  <a:pt x="3695700" y="45486"/>
                  <a:pt x="3695700" y="101595"/>
                </a:cubicBezTo>
                <a:lnTo>
                  <a:pt x="3695700" y="5486405"/>
                </a:lnTo>
                <a:cubicBezTo>
                  <a:pt x="3695700" y="5542514"/>
                  <a:pt x="3650214" y="5588000"/>
                  <a:pt x="3594105" y="5588000"/>
                </a:cubicBezTo>
                <a:lnTo>
                  <a:pt x="101595" y="5588000"/>
                </a:lnTo>
                <a:cubicBezTo>
                  <a:pt x="45486" y="5588000"/>
                  <a:pt x="0" y="5542514"/>
                  <a:pt x="0" y="548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58800" y="121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8" name="Text 5"/>
          <p:cNvSpPr/>
          <p:nvPr/>
        </p:nvSpPr>
        <p:spPr>
          <a:xfrm>
            <a:off x="1066800" y="1223434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项目目标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735668"/>
            <a:ext cx="3289300" cy="81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从多张二维图像恢复场景三维结构，实现高精度、自动化建模。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50267" y="1016000"/>
            <a:ext cx="3695700" cy="5588000"/>
          </a:xfrm>
          <a:custGeom>
            <a:avLst/>
            <a:gdLst/>
            <a:ahLst/>
            <a:cxnLst/>
            <a:rect l="l" t="t" r="r" b="b"/>
            <a:pathLst>
              <a:path w="3695700" h="5588000">
                <a:moveTo>
                  <a:pt x="101595" y="0"/>
                </a:moveTo>
                <a:lnTo>
                  <a:pt x="3594105" y="0"/>
                </a:lnTo>
                <a:cubicBezTo>
                  <a:pt x="3650214" y="0"/>
                  <a:pt x="3695700" y="45486"/>
                  <a:pt x="3695700" y="101595"/>
                </a:cubicBezTo>
                <a:lnTo>
                  <a:pt x="3695700" y="5486405"/>
                </a:lnTo>
                <a:cubicBezTo>
                  <a:pt x="3695700" y="5542514"/>
                  <a:pt x="3650214" y="5588000"/>
                  <a:pt x="3594105" y="5588000"/>
                </a:cubicBezTo>
                <a:lnTo>
                  <a:pt x="101595" y="5588000"/>
                </a:lnTo>
                <a:cubicBezTo>
                  <a:pt x="45486" y="5588000"/>
                  <a:pt x="0" y="5542514"/>
                  <a:pt x="0" y="548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555067" y="121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766" y="169545"/>
                </a:moveTo>
                <a:cubicBezTo>
                  <a:pt x="32266" y="170795"/>
                  <a:pt x="35123" y="171450"/>
                  <a:pt x="38100" y="171450"/>
                </a:cubicBezTo>
                <a:lnTo>
                  <a:pt x="68282" y="171450"/>
                </a:lnTo>
                <a:cubicBezTo>
                  <a:pt x="73343" y="171450"/>
                  <a:pt x="78165" y="173474"/>
                  <a:pt x="81736" y="177046"/>
                </a:cubicBezTo>
                <a:lnTo>
                  <a:pt x="89654" y="184964"/>
                </a:lnTo>
                <a:cubicBezTo>
                  <a:pt x="93226" y="188535"/>
                  <a:pt x="98048" y="190560"/>
                  <a:pt x="103108" y="190560"/>
                </a:cubicBezTo>
                <a:lnTo>
                  <a:pt x="114240" y="190560"/>
                </a:lnTo>
                <a:cubicBezTo>
                  <a:pt x="124777" y="190560"/>
                  <a:pt x="133290" y="182047"/>
                  <a:pt x="133290" y="171510"/>
                </a:cubicBezTo>
                <a:lnTo>
                  <a:pt x="133290" y="147697"/>
                </a:lnTo>
                <a:cubicBezTo>
                  <a:pt x="133290" y="139779"/>
                  <a:pt x="139660" y="133410"/>
                  <a:pt x="147578" y="133410"/>
                </a:cubicBezTo>
                <a:cubicBezTo>
                  <a:pt x="155496" y="133410"/>
                  <a:pt x="161865" y="127040"/>
                  <a:pt x="161865" y="119122"/>
                </a:cubicBezTo>
                <a:lnTo>
                  <a:pt x="161865" y="93702"/>
                </a:lnTo>
                <a:cubicBezTo>
                  <a:pt x="161865" y="88642"/>
                  <a:pt x="163890" y="83820"/>
                  <a:pt x="167461" y="80248"/>
                </a:cubicBezTo>
                <a:lnTo>
                  <a:pt x="175379" y="72330"/>
                </a:lnTo>
                <a:cubicBezTo>
                  <a:pt x="178951" y="68759"/>
                  <a:pt x="180975" y="63937"/>
                  <a:pt x="180975" y="58876"/>
                </a:cubicBezTo>
                <a:lnTo>
                  <a:pt x="180975" y="33933"/>
                </a:lnTo>
                <a:cubicBezTo>
                  <a:pt x="180975" y="33218"/>
                  <a:pt x="180915" y="32564"/>
                  <a:pt x="180856" y="31849"/>
                </a:cubicBezTo>
                <a:cubicBezTo>
                  <a:pt x="171688" y="29706"/>
                  <a:pt x="162163" y="28575"/>
                  <a:pt x="152400" y="28575"/>
                </a:cubicBezTo>
                <a:cubicBezTo>
                  <a:pt x="83999" y="28575"/>
                  <a:pt x="28575" y="83999"/>
                  <a:pt x="28575" y="152400"/>
                </a:cubicBezTo>
                <a:cubicBezTo>
                  <a:pt x="28575" y="158234"/>
                  <a:pt x="28992" y="163949"/>
                  <a:pt x="29766" y="169545"/>
                </a:cubicBezTo>
                <a:close/>
                <a:moveTo>
                  <a:pt x="269855" y="191750"/>
                </a:moveTo>
                <a:cubicBezTo>
                  <a:pt x="267950" y="190917"/>
                  <a:pt x="265867" y="190500"/>
                  <a:pt x="263604" y="190500"/>
                </a:cubicBezTo>
                <a:lnTo>
                  <a:pt x="257175" y="190500"/>
                </a:lnTo>
                <a:cubicBezTo>
                  <a:pt x="251936" y="190500"/>
                  <a:pt x="247650" y="186214"/>
                  <a:pt x="247650" y="180975"/>
                </a:cubicBezTo>
                <a:cubicBezTo>
                  <a:pt x="247650" y="175736"/>
                  <a:pt x="243364" y="171450"/>
                  <a:pt x="238125" y="171450"/>
                </a:cubicBezTo>
                <a:lnTo>
                  <a:pt x="217468" y="171450"/>
                </a:lnTo>
                <a:cubicBezTo>
                  <a:pt x="212408" y="171450"/>
                  <a:pt x="207585" y="173474"/>
                  <a:pt x="204014" y="177046"/>
                </a:cubicBezTo>
                <a:lnTo>
                  <a:pt x="177046" y="204014"/>
                </a:lnTo>
                <a:cubicBezTo>
                  <a:pt x="173474" y="207585"/>
                  <a:pt x="171450" y="212408"/>
                  <a:pt x="171450" y="217468"/>
                </a:cubicBezTo>
                <a:lnTo>
                  <a:pt x="171450" y="228600"/>
                </a:lnTo>
                <a:cubicBezTo>
                  <a:pt x="171450" y="239137"/>
                  <a:pt x="179963" y="247650"/>
                  <a:pt x="190500" y="247650"/>
                </a:cubicBezTo>
                <a:lnTo>
                  <a:pt x="201632" y="247650"/>
                </a:lnTo>
                <a:cubicBezTo>
                  <a:pt x="206692" y="247650"/>
                  <a:pt x="211515" y="249674"/>
                  <a:pt x="215086" y="253246"/>
                </a:cubicBezTo>
                <a:cubicBezTo>
                  <a:pt x="216396" y="254556"/>
                  <a:pt x="217884" y="255687"/>
                  <a:pt x="219432" y="256520"/>
                </a:cubicBezTo>
                <a:cubicBezTo>
                  <a:pt x="242828" y="241399"/>
                  <a:pt x="260806" y="218658"/>
                  <a:pt x="269796" y="19175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76200" y="219075"/>
                </a:moveTo>
                <a:cubicBezTo>
                  <a:pt x="76200" y="224314"/>
                  <a:pt x="80486" y="228600"/>
                  <a:pt x="85725" y="228600"/>
                </a:cubicBezTo>
                <a:lnTo>
                  <a:pt x="104775" y="228600"/>
                </a:lnTo>
                <a:cubicBezTo>
                  <a:pt x="110014" y="228600"/>
                  <a:pt x="114300" y="224314"/>
                  <a:pt x="114300" y="219075"/>
                </a:cubicBezTo>
                <a:cubicBezTo>
                  <a:pt x="114300" y="213836"/>
                  <a:pt x="110014" y="209550"/>
                  <a:pt x="104775" y="209550"/>
                </a:cubicBezTo>
                <a:lnTo>
                  <a:pt x="85725" y="209550"/>
                </a:lnTo>
                <a:cubicBezTo>
                  <a:pt x="80486" y="209550"/>
                  <a:pt x="76200" y="213836"/>
                  <a:pt x="76200" y="219075"/>
                </a:cubicBezTo>
                <a:close/>
                <a:moveTo>
                  <a:pt x="161925" y="152400"/>
                </a:moveTo>
                <a:cubicBezTo>
                  <a:pt x="156686" y="152400"/>
                  <a:pt x="152400" y="156686"/>
                  <a:pt x="152400" y="161925"/>
                </a:cubicBezTo>
                <a:lnTo>
                  <a:pt x="152400" y="180975"/>
                </a:lnTo>
                <a:cubicBezTo>
                  <a:pt x="152400" y="186214"/>
                  <a:pt x="156686" y="190500"/>
                  <a:pt x="161925" y="190500"/>
                </a:cubicBezTo>
                <a:cubicBezTo>
                  <a:pt x="167164" y="190500"/>
                  <a:pt x="171450" y="186214"/>
                  <a:pt x="171450" y="180975"/>
                </a:cubicBezTo>
                <a:lnTo>
                  <a:pt x="171450" y="161925"/>
                </a:lnTo>
                <a:cubicBezTo>
                  <a:pt x="171450" y="156686"/>
                  <a:pt x="167164" y="152400"/>
                  <a:pt x="161925" y="152400"/>
                </a:cubicBezTo>
                <a:close/>
                <a:moveTo>
                  <a:pt x="190500" y="85725"/>
                </a:moveTo>
                <a:lnTo>
                  <a:pt x="190500" y="104775"/>
                </a:lnTo>
                <a:cubicBezTo>
                  <a:pt x="190500" y="110014"/>
                  <a:pt x="194786" y="114300"/>
                  <a:pt x="200025" y="114300"/>
                </a:cubicBezTo>
                <a:cubicBezTo>
                  <a:pt x="205264" y="114300"/>
                  <a:pt x="209550" y="110014"/>
                  <a:pt x="209550" y="104775"/>
                </a:cubicBezTo>
                <a:lnTo>
                  <a:pt x="209550" y="85725"/>
                </a:lnTo>
                <a:cubicBezTo>
                  <a:pt x="209550" y="80486"/>
                  <a:pt x="205264" y="76200"/>
                  <a:pt x="200025" y="76200"/>
                </a:cubicBezTo>
                <a:cubicBezTo>
                  <a:pt x="194786" y="76200"/>
                  <a:pt x="190500" y="80486"/>
                  <a:pt x="190500" y="85725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2" name="Text 9"/>
          <p:cNvSpPr/>
          <p:nvPr/>
        </p:nvSpPr>
        <p:spPr>
          <a:xfrm>
            <a:off x="5063067" y="1223434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应用背景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53467" y="1735668"/>
            <a:ext cx="32893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虚拟现实与增强现实</a:t>
            </a: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文物数字化保护</a:t>
            </a: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高精度工程测绘</a:t>
            </a: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机器人SLAM导航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46534" y="1016000"/>
            <a:ext cx="3695700" cy="5588000"/>
          </a:xfrm>
          <a:custGeom>
            <a:avLst/>
            <a:gdLst/>
            <a:ahLst/>
            <a:cxnLst/>
            <a:rect l="l" t="t" r="r" b="b"/>
            <a:pathLst>
              <a:path w="3695700" h="5588000">
                <a:moveTo>
                  <a:pt x="101595" y="0"/>
                </a:moveTo>
                <a:lnTo>
                  <a:pt x="3594105" y="0"/>
                </a:lnTo>
                <a:cubicBezTo>
                  <a:pt x="3650214" y="0"/>
                  <a:pt x="3695700" y="45486"/>
                  <a:pt x="3695700" y="101595"/>
                </a:cubicBezTo>
                <a:lnTo>
                  <a:pt x="3695700" y="5486405"/>
                </a:lnTo>
                <a:cubicBezTo>
                  <a:pt x="3695700" y="5542514"/>
                  <a:pt x="3650214" y="5588000"/>
                  <a:pt x="3594105" y="5588000"/>
                </a:cubicBezTo>
                <a:lnTo>
                  <a:pt x="101595" y="5588000"/>
                </a:lnTo>
                <a:cubicBezTo>
                  <a:pt x="45486" y="5588000"/>
                  <a:pt x="0" y="5542514"/>
                  <a:pt x="0" y="548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513234" y="1219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6" name="Text 13"/>
          <p:cNvSpPr/>
          <p:nvPr/>
        </p:nvSpPr>
        <p:spPr>
          <a:xfrm>
            <a:off x="9059334" y="1223434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系统功能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49734" y="1735668"/>
            <a:ext cx="328930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图像导入与预处理</a:t>
            </a: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相机标定</a:t>
            </a: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特征提取与匹配</a:t>
            </a: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深度估计</a:t>
            </a: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点云生成与融合</a:t>
            </a: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表面重建</a:t>
            </a:r>
            <a:endParaRPr lang="en-US" sz="1600" dirty="0"/>
          </a:p>
          <a:p>
            <a:pPr marL="222250" indent="-22225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4:40-d3l4kc0s8jdo4os5emkg.png"/>
          <p:cNvPicPr>
            <a:picLocks noChangeAspect="1"/>
          </p:cNvPicPr>
          <p:nvPr/>
        </p:nvPicPr>
        <p:blipFill>
          <a:blip r:embed="rId4"/>
          <a:srcRect t="28475" b="28475"/>
          <a:stretch/>
        </p:blipFill>
        <p:spPr>
          <a:xfrm>
            <a:off x="0" y="2468880"/>
            <a:ext cx="12191365" cy="1835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175" y="3133090"/>
            <a:ext cx="66065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</a:t>
            </a:r>
            <a:r>
              <a:rPr lang="zh-CN" alt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4:39-d3l4kbos8jdo4os5emj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896600" y="897890"/>
            <a:ext cx="762000" cy="762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4:39-d3l4kbos8jdo4os5emj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896600" y="1028700"/>
            <a:ext cx="762000" cy="762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03814" y="5686046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803814" y="5686046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803814" y="5783020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03814" y="578302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803814" y="5879994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03814" y="587999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3" descr="https://kimi-img.moonshot.cn/pub/slides/slides_tmpl/image/25-10-11-20:14:39-d3l4kbos8jdo4os5emj0.png"/>
          <p:cNvPicPr>
            <a:picLocks noChangeAspect="1"/>
          </p:cNvPicPr>
          <p:nvPr/>
        </p:nvPicPr>
        <p:blipFill>
          <a:blip r:embed="rId6"/>
          <a:srcRect l="423" r="423"/>
          <a:stretch/>
        </p:blipFill>
        <p:spPr>
          <a:xfrm flipH="1">
            <a:off x="7372350" y="1739900"/>
            <a:ext cx="3202305" cy="32289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64032" y="2654935"/>
            <a:ext cx="1618942" cy="1398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3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</a:t>
            </a:r>
            <a:r>
              <a:rPr lang="en-US" sz="3000" dirty="0" err="1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1016000"/>
            <a:ext cx="5638800" cy="1727200"/>
          </a:xfrm>
          <a:custGeom>
            <a:avLst/>
            <a:gdLst/>
            <a:ahLst/>
            <a:cxnLst/>
            <a:rect l="l" t="t" r="r" b="b"/>
            <a:pathLst>
              <a:path w="5638800" h="1727200">
                <a:moveTo>
                  <a:pt x="101594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1625606"/>
                </a:lnTo>
                <a:cubicBezTo>
                  <a:pt x="5638800" y="1681715"/>
                  <a:pt x="5593315" y="1727200"/>
                  <a:pt x="55372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65150" y="12192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63500" y="127000"/>
                </a:move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ubicBezTo>
                  <a:pt x="56387" y="142875"/>
                  <a:pt x="63500" y="135762"/>
                  <a:pt x="63500" y="127000"/>
                </a:cubicBezTo>
                <a:close/>
                <a:moveTo>
                  <a:pt x="45938" y="222250"/>
                </a:moveTo>
                <a:lnTo>
                  <a:pt x="144562" y="222250"/>
                </a:lnTo>
                <a:cubicBezTo>
                  <a:pt x="152400" y="222250"/>
                  <a:pt x="158750" y="215900"/>
                  <a:pt x="158750" y="208062"/>
                </a:cubicBezTo>
                <a:cubicBezTo>
                  <a:pt x="158750" y="204440"/>
                  <a:pt x="157361" y="200918"/>
                  <a:pt x="154831" y="198289"/>
                </a:cubicBezTo>
                <a:lnTo>
                  <a:pt x="106809" y="147786"/>
                </a:lnTo>
                <a:cubicBezTo>
                  <a:pt x="103832" y="144661"/>
                  <a:pt x="99665" y="142875"/>
                  <a:pt x="95300" y="142875"/>
                </a:cubicBezTo>
                <a:lnTo>
                  <a:pt x="95151" y="142875"/>
                </a:lnTo>
                <a:cubicBezTo>
                  <a:pt x="90785" y="142875"/>
                  <a:pt x="86668" y="144661"/>
                  <a:pt x="83641" y="147786"/>
                </a:cubicBezTo>
                <a:lnTo>
                  <a:pt x="35669" y="198289"/>
                </a:lnTo>
                <a:cubicBezTo>
                  <a:pt x="33139" y="200918"/>
                  <a:pt x="31750" y="204440"/>
                  <a:pt x="31750" y="208062"/>
                </a:cubicBezTo>
                <a:cubicBezTo>
                  <a:pt x="31750" y="215900"/>
                  <a:pt x="38100" y="222250"/>
                  <a:pt x="45938" y="222250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8" name="Text 5"/>
          <p:cNvSpPr/>
          <p:nvPr/>
        </p:nvSpPr>
        <p:spPr>
          <a:xfrm>
            <a:off x="1066800" y="1168400"/>
            <a:ext cx="424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68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图像导入与预处理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6800" y="14732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负责图像的读取、格式转换及基础的质量增强。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99200" y="1016000"/>
            <a:ext cx="5638800" cy="1727200"/>
          </a:xfrm>
          <a:custGeom>
            <a:avLst/>
            <a:gdLst/>
            <a:ahLst/>
            <a:cxnLst/>
            <a:rect l="l" t="t" r="r" b="b"/>
            <a:pathLst>
              <a:path w="5638800" h="1727200">
                <a:moveTo>
                  <a:pt x="101594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1625606"/>
                </a:lnTo>
                <a:cubicBezTo>
                  <a:pt x="5638800" y="1681715"/>
                  <a:pt x="5593315" y="1727200"/>
                  <a:pt x="55372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578600" y="1219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206375"/>
                </a:moveTo>
                <a:lnTo>
                  <a:pt x="0" y="103188"/>
                </a:lnTo>
                <a:lnTo>
                  <a:pt x="67568" y="103188"/>
                </a:lnTo>
                <a:cubicBezTo>
                  <a:pt x="74265" y="93166"/>
                  <a:pt x="83443" y="84931"/>
                  <a:pt x="94208" y="79375"/>
                </a:cubicBezTo>
                <a:lnTo>
                  <a:pt x="0" y="79375"/>
                </a:lnTo>
                <a:lnTo>
                  <a:pt x="0" y="62359"/>
                </a:lnTo>
                <a:cubicBezTo>
                  <a:pt x="0" y="44847"/>
                  <a:pt x="14238" y="30609"/>
                  <a:pt x="31750" y="30609"/>
                </a:cubicBezTo>
                <a:lnTo>
                  <a:pt x="31800" y="30609"/>
                </a:lnTo>
                <a:cubicBezTo>
                  <a:pt x="32395" y="22374"/>
                  <a:pt x="39241" y="15875"/>
                  <a:pt x="47625" y="15875"/>
                </a:cubicBezTo>
                <a:lnTo>
                  <a:pt x="63500" y="15875"/>
                </a:lnTo>
                <a:cubicBezTo>
                  <a:pt x="71884" y="15875"/>
                  <a:pt x="78730" y="22374"/>
                  <a:pt x="79325" y="30609"/>
                </a:cubicBezTo>
                <a:lnTo>
                  <a:pt x="95250" y="30609"/>
                </a:lnTo>
                <a:lnTo>
                  <a:pt x="120650" y="18802"/>
                </a:lnTo>
                <a:cubicBezTo>
                  <a:pt x="124817" y="16867"/>
                  <a:pt x="129381" y="15825"/>
                  <a:pt x="133995" y="15825"/>
                </a:cubicBezTo>
                <a:lnTo>
                  <a:pt x="222250" y="15875"/>
                </a:lnTo>
                <a:cubicBezTo>
                  <a:pt x="239762" y="15875"/>
                  <a:pt x="254000" y="30113"/>
                  <a:pt x="254000" y="47625"/>
                </a:cubicBezTo>
                <a:lnTo>
                  <a:pt x="254000" y="79375"/>
                </a:lnTo>
                <a:lnTo>
                  <a:pt x="159742" y="79375"/>
                </a:lnTo>
                <a:cubicBezTo>
                  <a:pt x="170507" y="84931"/>
                  <a:pt x="179685" y="93166"/>
                  <a:pt x="186382" y="103188"/>
                </a:cubicBezTo>
                <a:lnTo>
                  <a:pt x="253950" y="103188"/>
                </a:lnTo>
                <a:lnTo>
                  <a:pt x="253950" y="206375"/>
                </a:lnTo>
                <a:cubicBezTo>
                  <a:pt x="253950" y="223887"/>
                  <a:pt x="239713" y="238125"/>
                  <a:pt x="2222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close/>
                <a:moveTo>
                  <a:pt x="127000" y="95250"/>
                </a:moveTo>
                <a:cubicBezTo>
                  <a:pt x="109610" y="94689"/>
                  <a:pt x="93295" y="103646"/>
                  <a:pt x="84434" y="118620"/>
                </a:cubicBezTo>
                <a:cubicBezTo>
                  <a:pt x="75572" y="133594"/>
                  <a:pt x="75572" y="152206"/>
                  <a:pt x="84434" y="167180"/>
                </a:cubicBezTo>
                <a:cubicBezTo>
                  <a:pt x="93295" y="182154"/>
                  <a:pt x="109610" y="191111"/>
                  <a:pt x="127000" y="190550"/>
                </a:cubicBezTo>
                <a:cubicBezTo>
                  <a:pt x="144390" y="191111"/>
                  <a:pt x="160705" y="182154"/>
                  <a:pt x="169566" y="167180"/>
                </a:cubicBezTo>
                <a:cubicBezTo>
                  <a:pt x="178428" y="152206"/>
                  <a:pt x="178428" y="133594"/>
                  <a:pt x="169566" y="118620"/>
                </a:cubicBezTo>
                <a:cubicBezTo>
                  <a:pt x="160705" y="103646"/>
                  <a:pt x="144390" y="94689"/>
                  <a:pt x="127000" y="95250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2" name="Text 9"/>
          <p:cNvSpPr/>
          <p:nvPr/>
        </p:nvSpPr>
        <p:spPr>
          <a:xfrm>
            <a:off x="7112000" y="1168400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68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相机标定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12000" y="1473200"/>
            <a:ext cx="388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生成相机内参矩阵，为后续计算提供基准。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54000" y="2946400"/>
            <a:ext cx="5638800" cy="1727200"/>
          </a:xfrm>
          <a:custGeom>
            <a:avLst/>
            <a:gdLst/>
            <a:ahLst/>
            <a:cxnLst/>
            <a:rect l="l" t="t" r="r" b="b"/>
            <a:pathLst>
              <a:path w="5638800" h="1727200">
                <a:moveTo>
                  <a:pt x="101594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1625606"/>
                </a:lnTo>
                <a:cubicBezTo>
                  <a:pt x="5638800" y="1681715"/>
                  <a:pt x="5593315" y="1727200"/>
                  <a:pt x="55372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33400" y="314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55563"/>
                </a:moveTo>
                <a:cubicBezTo>
                  <a:pt x="96589" y="55563"/>
                  <a:pt x="91281" y="60871"/>
                  <a:pt x="91281" y="67469"/>
                </a:cubicBezTo>
                <a:lnTo>
                  <a:pt x="91281" y="91281"/>
                </a:lnTo>
                <a:lnTo>
                  <a:pt x="67469" y="91281"/>
                </a:lnTo>
                <a:cubicBezTo>
                  <a:pt x="60871" y="91281"/>
                  <a:pt x="55563" y="96589"/>
                  <a:pt x="55563" y="103188"/>
                </a:cubicBezTo>
                <a:cubicBezTo>
                  <a:pt x="55563" y="109786"/>
                  <a:pt x="60871" y="115094"/>
                  <a:pt x="67469" y="115094"/>
                </a:cubicBezTo>
                <a:lnTo>
                  <a:pt x="91281" y="115094"/>
                </a:lnTo>
                <a:lnTo>
                  <a:pt x="91281" y="138906"/>
                </a:lnTo>
                <a:cubicBezTo>
                  <a:pt x="91281" y="145504"/>
                  <a:pt x="96589" y="150813"/>
                  <a:pt x="103188" y="150813"/>
                </a:cubicBezTo>
                <a:cubicBezTo>
                  <a:pt x="109786" y="150813"/>
                  <a:pt x="115094" y="145504"/>
                  <a:pt x="115094" y="138906"/>
                </a:cubicBezTo>
                <a:lnTo>
                  <a:pt x="115094" y="115094"/>
                </a:lnTo>
                <a:lnTo>
                  <a:pt x="138906" y="115094"/>
                </a:lnTo>
                <a:cubicBezTo>
                  <a:pt x="145504" y="115094"/>
                  <a:pt x="150813" y="109786"/>
                  <a:pt x="150813" y="103188"/>
                </a:cubicBezTo>
                <a:cubicBezTo>
                  <a:pt x="150813" y="96589"/>
                  <a:pt x="145504" y="91281"/>
                  <a:pt x="138906" y="91281"/>
                </a:cubicBezTo>
                <a:lnTo>
                  <a:pt x="115094" y="91281"/>
                </a:lnTo>
                <a:lnTo>
                  <a:pt x="115094" y="67469"/>
                </a:lnTo>
                <a:cubicBezTo>
                  <a:pt x="115094" y="60871"/>
                  <a:pt x="109786" y="55563"/>
                  <a:pt x="103188" y="55563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66800" y="30988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68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特征提取与匹配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66800" y="34036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检测并描述关键点，建立图像间的特征对应关系。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99200" y="2946400"/>
            <a:ext cx="5638800" cy="1727200"/>
          </a:xfrm>
          <a:custGeom>
            <a:avLst/>
            <a:gdLst/>
            <a:ahLst/>
            <a:cxnLst/>
            <a:rect l="l" t="t" r="r" b="b"/>
            <a:pathLst>
              <a:path w="5638800" h="1727200">
                <a:moveTo>
                  <a:pt x="101594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1625606"/>
                </a:lnTo>
                <a:cubicBezTo>
                  <a:pt x="5638800" y="1681715"/>
                  <a:pt x="5593315" y="1727200"/>
                  <a:pt x="55372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577674" y="3149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496" y="219125"/>
                </a:moveTo>
                <a:cubicBezTo>
                  <a:pt x="2729" y="229939"/>
                  <a:pt x="12303" y="238125"/>
                  <a:pt x="23812" y="238125"/>
                </a:cubicBezTo>
                <a:lnTo>
                  <a:pt x="198438" y="238125"/>
                </a:lnTo>
                <a:cubicBezTo>
                  <a:pt x="211584" y="238125"/>
                  <a:pt x="222250" y="227459"/>
                  <a:pt x="222250" y="214313"/>
                </a:cubicBezTo>
                <a:lnTo>
                  <a:pt x="222250" y="166688"/>
                </a:lnTo>
                <a:cubicBezTo>
                  <a:pt x="222250" y="153541"/>
                  <a:pt x="211584" y="142875"/>
                  <a:pt x="198438" y="142875"/>
                </a:cubicBezTo>
                <a:lnTo>
                  <a:pt x="174625" y="142875"/>
                </a:lnTo>
                <a:lnTo>
                  <a:pt x="174625" y="178594"/>
                </a:lnTo>
                <a:cubicBezTo>
                  <a:pt x="174625" y="185192"/>
                  <a:pt x="169317" y="190500"/>
                  <a:pt x="162719" y="190500"/>
                </a:cubicBezTo>
                <a:cubicBezTo>
                  <a:pt x="156121" y="190500"/>
                  <a:pt x="150813" y="185192"/>
                  <a:pt x="150813" y="178594"/>
                </a:cubicBezTo>
                <a:lnTo>
                  <a:pt x="150813" y="142875"/>
                </a:lnTo>
                <a:lnTo>
                  <a:pt x="119063" y="142875"/>
                </a:lnTo>
                <a:lnTo>
                  <a:pt x="119063" y="178594"/>
                </a:lnTo>
                <a:cubicBezTo>
                  <a:pt x="119063" y="185192"/>
                  <a:pt x="113754" y="190500"/>
                  <a:pt x="107156" y="190500"/>
                </a:cubicBezTo>
                <a:cubicBezTo>
                  <a:pt x="100558" y="190500"/>
                  <a:pt x="95250" y="185192"/>
                  <a:pt x="95250" y="178594"/>
                </a:cubicBezTo>
                <a:lnTo>
                  <a:pt x="95250" y="142875"/>
                </a:lnTo>
                <a:lnTo>
                  <a:pt x="59531" y="142875"/>
                </a:lnTo>
                <a:cubicBezTo>
                  <a:pt x="52933" y="142875"/>
                  <a:pt x="47625" y="137567"/>
                  <a:pt x="47625" y="130969"/>
                </a:cubicBezTo>
                <a:cubicBezTo>
                  <a:pt x="47625" y="124371"/>
                  <a:pt x="52933" y="119063"/>
                  <a:pt x="59531" y="119063"/>
                </a:cubicBezTo>
                <a:lnTo>
                  <a:pt x="95250" y="119063"/>
                </a:lnTo>
                <a:lnTo>
                  <a:pt x="95250" y="87313"/>
                </a:lnTo>
                <a:lnTo>
                  <a:pt x="59531" y="87313"/>
                </a:lnTo>
                <a:cubicBezTo>
                  <a:pt x="52933" y="87313"/>
                  <a:pt x="47625" y="82004"/>
                  <a:pt x="47625" y="75406"/>
                </a:cubicBezTo>
                <a:cubicBezTo>
                  <a:pt x="47625" y="68808"/>
                  <a:pt x="52933" y="63500"/>
                  <a:pt x="59531" y="63500"/>
                </a:cubicBezTo>
                <a:lnTo>
                  <a:pt x="95250" y="63500"/>
                </a:lnTo>
                <a:lnTo>
                  <a:pt x="95250" y="39688"/>
                </a:lnTo>
                <a:cubicBezTo>
                  <a:pt x="95250" y="26541"/>
                  <a:pt x="84584" y="15875"/>
                  <a:pt x="71438" y="15875"/>
                </a:cubicBezTo>
                <a:lnTo>
                  <a:pt x="23812" y="15875"/>
                </a:lnTo>
                <a:cubicBezTo>
                  <a:pt x="10666" y="15875"/>
                  <a:pt x="0" y="26541"/>
                  <a:pt x="0" y="39688"/>
                </a:cubicBezTo>
                <a:lnTo>
                  <a:pt x="0" y="214313"/>
                </a:lnTo>
                <a:cubicBezTo>
                  <a:pt x="0" y="215950"/>
                  <a:pt x="149" y="217587"/>
                  <a:pt x="496" y="219125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20" name="Text 17"/>
          <p:cNvSpPr/>
          <p:nvPr/>
        </p:nvSpPr>
        <p:spPr>
          <a:xfrm>
            <a:off x="7078531" y="3098800"/>
            <a:ext cx="521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68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深度估计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78531" y="3403600"/>
            <a:ext cx="4711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计算本质矩阵(E)，并使用RANSAC算法剔除误匹配，提高精度。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54000" y="4876800"/>
            <a:ext cx="5638800" cy="1727200"/>
          </a:xfrm>
          <a:custGeom>
            <a:avLst/>
            <a:gdLst/>
            <a:ahLst/>
            <a:cxnLst/>
            <a:rect l="l" t="t" r="r" b="b"/>
            <a:pathLst>
              <a:path w="5638800" h="1727200">
                <a:moveTo>
                  <a:pt x="101594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1625606"/>
                </a:lnTo>
                <a:cubicBezTo>
                  <a:pt x="5638800" y="1681715"/>
                  <a:pt x="5593315" y="1727200"/>
                  <a:pt x="55372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33400" y="508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0891" y="-645"/>
                </a:moveTo>
                <a:cubicBezTo>
                  <a:pt x="132308" y="-5606"/>
                  <a:pt x="121692" y="-5606"/>
                  <a:pt x="113109" y="-645"/>
                </a:cubicBezTo>
                <a:lnTo>
                  <a:pt x="71338" y="23465"/>
                </a:lnTo>
                <a:cubicBezTo>
                  <a:pt x="62756" y="28426"/>
                  <a:pt x="57448" y="37604"/>
                  <a:pt x="57448" y="47526"/>
                </a:cubicBezTo>
                <a:lnTo>
                  <a:pt x="57448" y="98078"/>
                </a:lnTo>
                <a:lnTo>
                  <a:pt x="13643" y="123379"/>
                </a:lnTo>
                <a:cubicBezTo>
                  <a:pt x="5060" y="128339"/>
                  <a:pt x="-248" y="137517"/>
                  <a:pt x="-248" y="147439"/>
                </a:cubicBezTo>
                <a:lnTo>
                  <a:pt x="-248" y="195709"/>
                </a:lnTo>
                <a:cubicBezTo>
                  <a:pt x="-248" y="205631"/>
                  <a:pt x="5060" y="214809"/>
                  <a:pt x="13643" y="219770"/>
                </a:cubicBezTo>
                <a:lnTo>
                  <a:pt x="55463" y="243880"/>
                </a:lnTo>
                <a:cubicBezTo>
                  <a:pt x="64046" y="248841"/>
                  <a:pt x="74662" y="248841"/>
                  <a:pt x="83245" y="243880"/>
                </a:cubicBezTo>
                <a:lnTo>
                  <a:pt x="127050" y="218579"/>
                </a:lnTo>
                <a:lnTo>
                  <a:pt x="170855" y="243880"/>
                </a:lnTo>
                <a:cubicBezTo>
                  <a:pt x="179437" y="248841"/>
                  <a:pt x="190054" y="248841"/>
                  <a:pt x="198636" y="243880"/>
                </a:cubicBezTo>
                <a:lnTo>
                  <a:pt x="240357" y="219770"/>
                </a:lnTo>
                <a:cubicBezTo>
                  <a:pt x="248940" y="214809"/>
                  <a:pt x="254248" y="205631"/>
                  <a:pt x="254248" y="195709"/>
                </a:cubicBezTo>
                <a:lnTo>
                  <a:pt x="254248" y="147439"/>
                </a:lnTo>
                <a:cubicBezTo>
                  <a:pt x="254248" y="137517"/>
                  <a:pt x="248940" y="128339"/>
                  <a:pt x="240357" y="123379"/>
                </a:cubicBezTo>
                <a:lnTo>
                  <a:pt x="196552" y="98078"/>
                </a:lnTo>
                <a:lnTo>
                  <a:pt x="196552" y="47526"/>
                </a:lnTo>
                <a:cubicBezTo>
                  <a:pt x="196552" y="37604"/>
                  <a:pt x="191244" y="28426"/>
                  <a:pt x="182662" y="23465"/>
                </a:cubicBezTo>
                <a:lnTo>
                  <a:pt x="140891" y="-645"/>
                </a:lnTo>
                <a:close/>
                <a:moveTo>
                  <a:pt x="115094" y="145157"/>
                </a:moveTo>
                <a:lnTo>
                  <a:pt x="115094" y="197991"/>
                </a:lnTo>
                <a:lnTo>
                  <a:pt x="71289" y="223292"/>
                </a:lnTo>
                <a:cubicBezTo>
                  <a:pt x="70693" y="223639"/>
                  <a:pt x="69999" y="223838"/>
                  <a:pt x="69304" y="223838"/>
                </a:cubicBezTo>
                <a:lnTo>
                  <a:pt x="69304" y="171599"/>
                </a:lnTo>
                <a:lnTo>
                  <a:pt x="115094" y="145157"/>
                </a:lnTo>
                <a:close/>
                <a:moveTo>
                  <a:pt x="229890" y="145455"/>
                </a:moveTo>
                <a:cubicBezTo>
                  <a:pt x="230237" y="146050"/>
                  <a:pt x="230436" y="146745"/>
                  <a:pt x="230436" y="147439"/>
                </a:cubicBezTo>
                <a:lnTo>
                  <a:pt x="230436" y="195709"/>
                </a:lnTo>
                <a:cubicBezTo>
                  <a:pt x="230436" y="197148"/>
                  <a:pt x="229691" y="198438"/>
                  <a:pt x="228451" y="199132"/>
                </a:cubicBezTo>
                <a:lnTo>
                  <a:pt x="186630" y="223242"/>
                </a:lnTo>
                <a:cubicBezTo>
                  <a:pt x="186035" y="223589"/>
                  <a:pt x="185341" y="223788"/>
                  <a:pt x="184646" y="223788"/>
                </a:cubicBezTo>
                <a:lnTo>
                  <a:pt x="184646" y="171549"/>
                </a:lnTo>
                <a:lnTo>
                  <a:pt x="229890" y="145455"/>
                </a:lnTo>
                <a:close/>
                <a:moveTo>
                  <a:pt x="172789" y="47526"/>
                </a:moveTo>
                <a:lnTo>
                  <a:pt x="172789" y="98078"/>
                </a:lnTo>
                <a:lnTo>
                  <a:pt x="127000" y="124520"/>
                </a:lnTo>
                <a:lnTo>
                  <a:pt x="127000" y="71686"/>
                </a:lnTo>
                <a:lnTo>
                  <a:pt x="172244" y="45591"/>
                </a:lnTo>
                <a:cubicBezTo>
                  <a:pt x="172591" y="46186"/>
                  <a:pt x="172789" y="46881"/>
                  <a:pt x="172789" y="47575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24" name="Text 21"/>
          <p:cNvSpPr/>
          <p:nvPr/>
        </p:nvSpPr>
        <p:spPr>
          <a:xfrm>
            <a:off x="1066800" y="5029200"/>
            <a:ext cx="497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68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点云生成与融合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66800" y="5334000"/>
            <a:ext cx="497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利用PnP和三角化生成点云，并通过BA优化全局一致性。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99200" y="4876800"/>
            <a:ext cx="5638800" cy="1727200"/>
          </a:xfrm>
          <a:custGeom>
            <a:avLst/>
            <a:gdLst/>
            <a:ahLst/>
            <a:cxnLst/>
            <a:rect l="l" t="t" r="r" b="b"/>
            <a:pathLst>
              <a:path w="5638800" h="1727200">
                <a:moveTo>
                  <a:pt x="101594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1625606"/>
                </a:lnTo>
                <a:cubicBezTo>
                  <a:pt x="5638800" y="1681715"/>
                  <a:pt x="5593315" y="1727200"/>
                  <a:pt x="55372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578600" y="508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2556" y="0"/>
                  <a:pt x="137765" y="2927"/>
                  <a:pt x="140593" y="7689"/>
                </a:cubicBezTo>
                <a:lnTo>
                  <a:pt x="188218" y="87064"/>
                </a:lnTo>
                <a:cubicBezTo>
                  <a:pt x="191145" y="91976"/>
                  <a:pt x="191244" y="98078"/>
                  <a:pt x="188416" y="103039"/>
                </a:cubicBezTo>
                <a:cubicBezTo>
                  <a:pt x="185589" y="108000"/>
                  <a:pt x="180330" y="111125"/>
                  <a:pt x="174625" y="111125"/>
                </a:cubicBezTo>
                <a:lnTo>
                  <a:pt x="79375" y="111125"/>
                </a:lnTo>
                <a:cubicBezTo>
                  <a:pt x="73670" y="111125"/>
                  <a:pt x="68362" y="108049"/>
                  <a:pt x="65584" y="103088"/>
                </a:cubicBezTo>
                <a:cubicBezTo>
                  <a:pt x="62805" y="98127"/>
                  <a:pt x="62855" y="92025"/>
                  <a:pt x="65782" y="87114"/>
                </a:cubicBezTo>
                <a:lnTo>
                  <a:pt x="113407" y="7739"/>
                </a:lnTo>
                <a:cubicBezTo>
                  <a:pt x="116235" y="2927"/>
                  <a:pt x="121444" y="0"/>
                  <a:pt x="127000" y="0"/>
                </a:cubicBezTo>
                <a:close/>
                <a:moveTo>
                  <a:pt x="63500" y="134938"/>
                </a:moveTo>
                <a:cubicBezTo>
                  <a:pt x="94166" y="134938"/>
                  <a:pt x="119063" y="159834"/>
                  <a:pt x="119063" y="190500"/>
                </a:cubicBezTo>
                <a:cubicBezTo>
                  <a:pt x="119063" y="221166"/>
                  <a:pt x="94166" y="246063"/>
                  <a:pt x="63500" y="246063"/>
                </a:cubicBezTo>
                <a:cubicBezTo>
                  <a:pt x="32834" y="246063"/>
                  <a:pt x="7938" y="221166"/>
                  <a:pt x="7938" y="190500"/>
                </a:cubicBezTo>
                <a:cubicBezTo>
                  <a:pt x="7938" y="159834"/>
                  <a:pt x="32834" y="134938"/>
                  <a:pt x="63500" y="134938"/>
                </a:cubicBezTo>
                <a:close/>
                <a:moveTo>
                  <a:pt x="162719" y="142875"/>
                </a:moveTo>
                <a:lnTo>
                  <a:pt x="218281" y="142875"/>
                </a:lnTo>
                <a:cubicBezTo>
                  <a:pt x="229245" y="142875"/>
                  <a:pt x="238125" y="151755"/>
                  <a:pt x="238125" y="162719"/>
                </a:cubicBezTo>
                <a:lnTo>
                  <a:pt x="238125" y="218281"/>
                </a:lnTo>
                <a:cubicBezTo>
                  <a:pt x="238125" y="229245"/>
                  <a:pt x="229245" y="238125"/>
                  <a:pt x="218281" y="238125"/>
                </a:cubicBezTo>
                <a:lnTo>
                  <a:pt x="162719" y="238125"/>
                </a:lnTo>
                <a:cubicBezTo>
                  <a:pt x="151755" y="238125"/>
                  <a:pt x="142875" y="229245"/>
                  <a:pt x="142875" y="218281"/>
                </a:cubicBezTo>
                <a:lnTo>
                  <a:pt x="142875" y="162719"/>
                </a:lnTo>
                <a:cubicBezTo>
                  <a:pt x="142875" y="151755"/>
                  <a:pt x="151755" y="142875"/>
                  <a:pt x="162719" y="142875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28" name="Text 25"/>
          <p:cNvSpPr/>
          <p:nvPr/>
        </p:nvSpPr>
        <p:spPr>
          <a:xfrm>
            <a:off x="7112000" y="50292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68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表面重建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12000" y="53340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对离散点云进行表面重建，生成连续的网格模型。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54000"/>
            <a:ext cx="11633200" cy="6299200"/>
          </a:xfrm>
          <a:custGeom>
            <a:avLst/>
            <a:gdLst/>
            <a:ahLst/>
            <a:cxnLst/>
            <a:rect l="l" t="t" r="r" b="b"/>
            <a:pathLst>
              <a:path w="11633200" h="6299200">
                <a:moveTo>
                  <a:pt x="101606" y="0"/>
                </a:moveTo>
                <a:lnTo>
                  <a:pt x="11531594" y="0"/>
                </a:lnTo>
                <a:cubicBezTo>
                  <a:pt x="11587709" y="0"/>
                  <a:pt x="11633200" y="45491"/>
                  <a:pt x="11633200" y="101606"/>
                </a:cubicBezTo>
                <a:lnTo>
                  <a:pt x="11633200" y="6197594"/>
                </a:lnTo>
                <a:cubicBezTo>
                  <a:pt x="11633200" y="6253709"/>
                  <a:pt x="11587709" y="6299200"/>
                  <a:pt x="11531594" y="6299200"/>
                </a:cubicBezTo>
                <a:lnTo>
                  <a:pt x="101606" y="6299200"/>
                </a:lnTo>
                <a:cubicBezTo>
                  <a:pt x="45491" y="6299200"/>
                  <a:pt x="0" y="6253709"/>
                  <a:pt x="0" y="61975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EC3D6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3"/>
          <p:cNvSpPr/>
          <p:nvPr/>
        </p:nvSpPr>
        <p:spPr>
          <a:xfrm>
            <a:off x="5588000" y="1955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67400" y="2159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76200"/>
                </a:moveTo>
                <a:cubicBezTo>
                  <a:pt x="0" y="34171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7977"/>
                  <a:pt x="308134" y="22265"/>
                </a:cubicBezTo>
                <a:lnTo>
                  <a:pt x="434935" y="149185"/>
                </a:lnTo>
                <a:cubicBezTo>
                  <a:pt x="449223" y="163473"/>
                  <a:pt x="457200" y="182880"/>
                  <a:pt x="457200" y="203121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76200"/>
                </a:lnTo>
                <a:close/>
                <a:moveTo>
                  <a:pt x="247650" y="69652"/>
                </a:moveTo>
                <a:lnTo>
                  <a:pt x="247650" y="180975"/>
                </a:lnTo>
                <a:cubicBezTo>
                  <a:pt x="247650" y="196810"/>
                  <a:pt x="260390" y="209550"/>
                  <a:pt x="276225" y="209550"/>
                </a:cubicBezTo>
                <a:lnTo>
                  <a:pt x="387548" y="209550"/>
                </a:lnTo>
                <a:lnTo>
                  <a:pt x="247650" y="69652"/>
                </a:lnTo>
                <a:close/>
                <a:moveTo>
                  <a:pt x="183594" y="351949"/>
                </a:moveTo>
                <a:cubicBezTo>
                  <a:pt x="193834" y="339923"/>
                  <a:pt x="192524" y="321945"/>
                  <a:pt x="180499" y="311706"/>
                </a:cubicBezTo>
                <a:cubicBezTo>
                  <a:pt x="168473" y="301466"/>
                  <a:pt x="150495" y="302776"/>
                  <a:pt x="140256" y="314801"/>
                </a:cubicBezTo>
                <a:lnTo>
                  <a:pt x="83106" y="381476"/>
                </a:lnTo>
                <a:cubicBezTo>
                  <a:pt x="73938" y="392192"/>
                  <a:pt x="73938" y="407908"/>
                  <a:pt x="83106" y="418624"/>
                </a:cubicBezTo>
                <a:lnTo>
                  <a:pt x="140256" y="485299"/>
                </a:lnTo>
                <a:cubicBezTo>
                  <a:pt x="150495" y="497324"/>
                  <a:pt x="168592" y="498634"/>
                  <a:pt x="180499" y="488394"/>
                </a:cubicBezTo>
                <a:cubicBezTo>
                  <a:pt x="192405" y="478155"/>
                  <a:pt x="193834" y="460058"/>
                  <a:pt x="183594" y="448151"/>
                </a:cubicBezTo>
                <a:lnTo>
                  <a:pt x="142399" y="400050"/>
                </a:lnTo>
                <a:lnTo>
                  <a:pt x="183594" y="351949"/>
                </a:lnTo>
                <a:close/>
                <a:moveTo>
                  <a:pt x="316944" y="314801"/>
                </a:moveTo>
                <a:cubicBezTo>
                  <a:pt x="306705" y="302776"/>
                  <a:pt x="288607" y="301466"/>
                  <a:pt x="276701" y="311706"/>
                </a:cubicBezTo>
                <a:cubicBezTo>
                  <a:pt x="264795" y="321945"/>
                  <a:pt x="263366" y="340043"/>
                  <a:pt x="273606" y="351949"/>
                </a:cubicBezTo>
                <a:lnTo>
                  <a:pt x="314801" y="400050"/>
                </a:lnTo>
                <a:lnTo>
                  <a:pt x="273606" y="448151"/>
                </a:lnTo>
                <a:cubicBezTo>
                  <a:pt x="263366" y="460177"/>
                  <a:pt x="264676" y="478155"/>
                  <a:pt x="276701" y="488394"/>
                </a:cubicBezTo>
                <a:cubicBezTo>
                  <a:pt x="288727" y="498634"/>
                  <a:pt x="306705" y="497324"/>
                  <a:pt x="316944" y="485299"/>
                </a:cubicBezTo>
                <a:lnTo>
                  <a:pt x="374094" y="418624"/>
                </a:lnTo>
                <a:cubicBezTo>
                  <a:pt x="383262" y="407908"/>
                  <a:pt x="383262" y="392192"/>
                  <a:pt x="374094" y="381476"/>
                </a:cubicBezTo>
                <a:lnTo>
                  <a:pt x="316944" y="314801"/>
                </a:lnTo>
                <a:close/>
              </a:path>
            </a:pathLst>
          </a:custGeom>
          <a:solidFill>
            <a:srgbClr val="2D6898"/>
          </a:solidFill>
          <a:ln/>
        </p:spPr>
      </p:sp>
      <p:sp>
        <p:nvSpPr>
          <p:cNvPr id="8" name="Text 5"/>
          <p:cNvSpPr/>
          <p:nvPr/>
        </p:nvSpPr>
        <p:spPr>
          <a:xfrm>
            <a:off x="459693" y="1838022"/>
            <a:ext cx="460844" cy="266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</a:rPr>
              <a:t>用例图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4:40-d3l4kc0s8jdo4os5emkg.png"/>
          <p:cNvPicPr>
            <a:picLocks noChangeAspect="1"/>
          </p:cNvPicPr>
          <p:nvPr/>
        </p:nvPicPr>
        <p:blipFill>
          <a:blip r:embed="rId4"/>
          <a:srcRect t="28475" b="28475"/>
          <a:stretch/>
        </p:blipFill>
        <p:spPr>
          <a:xfrm>
            <a:off x="0" y="2468880"/>
            <a:ext cx="12191365" cy="1835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175" y="3133090"/>
            <a:ext cx="66065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</a:t>
            </a: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4:39-d3l4kbos8jdo4os5emj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896600" y="897890"/>
            <a:ext cx="762000" cy="762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4:39-d3l4kbos8jdo4os5emj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896600" y="1028700"/>
            <a:ext cx="762000" cy="762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03814" y="5686046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803814" y="5686046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803814" y="5783020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03814" y="578302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803814" y="5879994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03814" y="587999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3" descr="https://kimi-img.moonshot.cn/pub/slides/slides_tmpl/image/25-10-11-20:14:39-d3l4kbos8jdo4os5emj0.png"/>
          <p:cNvPicPr>
            <a:picLocks noChangeAspect="1"/>
          </p:cNvPicPr>
          <p:nvPr/>
        </p:nvPicPr>
        <p:blipFill>
          <a:blip r:embed="rId6"/>
          <a:srcRect l="423" r="423"/>
          <a:stretch/>
        </p:blipFill>
        <p:spPr>
          <a:xfrm flipH="1">
            <a:off x="7372350" y="1739900"/>
            <a:ext cx="3202305" cy="32289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64032" y="2654935"/>
            <a:ext cx="1618942" cy="1398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73984"/>
            <a:ext cx="11633200" cy="6299200"/>
          </a:xfrm>
          <a:custGeom>
            <a:avLst/>
            <a:gdLst/>
            <a:ahLst/>
            <a:cxnLst/>
            <a:rect l="l" t="t" r="r" b="b"/>
            <a:pathLst>
              <a:path w="11633200" h="6299200">
                <a:moveTo>
                  <a:pt x="101606" y="0"/>
                </a:moveTo>
                <a:lnTo>
                  <a:pt x="11531594" y="0"/>
                </a:lnTo>
                <a:cubicBezTo>
                  <a:pt x="11587709" y="0"/>
                  <a:pt x="11633200" y="45491"/>
                  <a:pt x="11633200" y="101606"/>
                </a:cubicBezTo>
                <a:lnTo>
                  <a:pt x="11633200" y="6197594"/>
                </a:lnTo>
                <a:cubicBezTo>
                  <a:pt x="11633200" y="6253709"/>
                  <a:pt x="11587709" y="6299200"/>
                  <a:pt x="11531594" y="6299200"/>
                </a:cubicBezTo>
                <a:lnTo>
                  <a:pt x="101606" y="6299200"/>
                </a:lnTo>
                <a:cubicBezTo>
                  <a:pt x="45491" y="6299200"/>
                  <a:pt x="0" y="6253709"/>
                  <a:pt x="0" y="61975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EC3D6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5588000" y="2082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91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28600" y="76200"/>
                </a:moveTo>
                <a:cubicBezTo>
                  <a:pt x="228600" y="55126"/>
                  <a:pt x="245626" y="38100"/>
                  <a:pt x="266700" y="38100"/>
                </a:cubicBezTo>
                <a:lnTo>
                  <a:pt x="342900" y="38100"/>
                </a:lnTo>
                <a:cubicBezTo>
                  <a:pt x="363974" y="38100"/>
                  <a:pt x="381000" y="55126"/>
                  <a:pt x="381000" y="76200"/>
                </a:cubicBezTo>
                <a:lnTo>
                  <a:pt x="381000" y="152400"/>
                </a:lnTo>
                <a:cubicBezTo>
                  <a:pt x="381000" y="173474"/>
                  <a:pt x="363974" y="190500"/>
                  <a:pt x="342900" y="190500"/>
                </a:cubicBezTo>
                <a:lnTo>
                  <a:pt x="333375" y="190500"/>
                </a:lnTo>
                <a:lnTo>
                  <a:pt x="333375" y="266700"/>
                </a:lnTo>
                <a:lnTo>
                  <a:pt x="476250" y="266700"/>
                </a:lnTo>
                <a:cubicBezTo>
                  <a:pt x="523637" y="266700"/>
                  <a:pt x="561975" y="305038"/>
                  <a:pt x="561975" y="352425"/>
                </a:cubicBezTo>
                <a:lnTo>
                  <a:pt x="561975" y="419100"/>
                </a:lnTo>
                <a:lnTo>
                  <a:pt x="571500" y="419100"/>
                </a:lnTo>
                <a:cubicBezTo>
                  <a:pt x="592574" y="419100"/>
                  <a:pt x="609600" y="436126"/>
                  <a:pt x="609600" y="457200"/>
                </a:cubicBezTo>
                <a:lnTo>
                  <a:pt x="609600" y="533400"/>
                </a:lnTo>
                <a:cubicBezTo>
                  <a:pt x="609600" y="554474"/>
                  <a:pt x="592574" y="571500"/>
                  <a:pt x="571500" y="571500"/>
                </a:cubicBezTo>
                <a:lnTo>
                  <a:pt x="495300" y="571500"/>
                </a:lnTo>
                <a:cubicBezTo>
                  <a:pt x="474226" y="571500"/>
                  <a:pt x="457200" y="554474"/>
                  <a:pt x="457200" y="533400"/>
                </a:cubicBezTo>
                <a:lnTo>
                  <a:pt x="457200" y="457200"/>
                </a:lnTo>
                <a:cubicBezTo>
                  <a:pt x="457200" y="436126"/>
                  <a:pt x="474226" y="419100"/>
                  <a:pt x="495300" y="419100"/>
                </a:cubicBezTo>
                <a:lnTo>
                  <a:pt x="504825" y="419100"/>
                </a:lnTo>
                <a:lnTo>
                  <a:pt x="504825" y="352425"/>
                </a:lnTo>
                <a:cubicBezTo>
                  <a:pt x="504825" y="336590"/>
                  <a:pt x="492085" y="323850"/>
                  <a:pt x="476250" y="323850"/>
                </a:cubicBezTo>
                <a:lnTo>
                  <a:pt x="333375" y="323850"/>
                </a:lnTo>
                <a:lnTo>
                  <a:pt x="333375" y="419100"/>
                </a:lnTo>
                <a:lnTo>
                  <a:pt x="342900" y="419100"/>
                </a:lnTo>
                <a:cubicBezTo>
                  <a:pt x="363974" y="419100"/>
                  <a:pt x="381000" y="436126"/>
                  <a:pt x="381000" y="457200"/>
                </a:cubicBezTo>
                <a:lnTo>
                  <a:pt x="381000" y="533400"/>
                </a:lnTo>
                <a:cubicBezTo>
                  <a:pt x="381000" y="554474"/>
                  <a:pt x="363974" y="571500"/>
                  <a:pt x="342900" y="571500"/>
                </a:cubicBezTo>
                <a:lnTo>
                  <a:pt x="266700" y="571500"/>
                </a:lnTo>
                <a:cubicBezTo>
                  <a:pt x="245626" y="571500"/>
                  <a:pt x="228600" y="554474"/>
                  <a:pt x="228600" y="533400"/>
                </a:cubicBezTo>
                <a:lnTo>
                  <a:pt x="228600" y="457200"/>
                </a:lnTo>
                <a:cubicBezTo>
                  <a:pt x="228600" y="436126"/>
                  <a:pt x="245626" y="419100"/>
                  <a:pt x="266700" y="419100"/>
                </a:cubicBezTo>
                <a:lnTo>
                  <a:pt x="276225" y="419100"/>
                </a:lnTo>
                <a:lnTo>
                  <a:pt x="276225" y="323850"/>
                </a:lnTo>
                <a:lnTo>
                  <a:pt x="133350" y="323850"/>
                </a:lnTo>
                <a:cubicBezTo>
                  <a:pt x="117515" y="323850"/>
                  <a:pt x="104775" y="336590"/>
                  <a:pt x="104775" y="352425"/>
                </a:cubicBezTo>
                <a:lnTo>
                  <a:pt x="104775" y="419100"/>
                </a:lnTo>
                <a:lnTo>
                  <a:pt x="114300" y="419100"/>
                </a:lnTo>
                <a:cubicBezTo>
                  <a:pt x="135374" y="419100"/>
                  <a:pt x="152400" y="436126"/>
                  <a:pt x="152400" y="457200"/>
                </a:cubicBezTo>
                <a:lnTo>
                  <a:pt x="152400" y="533400"/>
                </a:lnTo>
                <a:cubicBezTo>
                  <a:pt x="152400" y="554474"/>
                  <a:pt x="135374" y="571500"/>
                  <a:pt x="114300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457200"/>
                </a:lnTo>
                <a:cubicBezTo>
                  <a:pt x="0" y="436126"/>
                  <a:pt x="17026" y="419100"/>
                  <a:pt x="38100" y="419100"/>
                </a:cubicBezTo>
                <a:lnTo>
                  <a:pt x="47625" y="419100"/>
                </a:lnTo>
                <a:lnTo>
                  <a:pt x="47625" y="352425"/>
                </a:lnTo>
                <a:cubicBezTo>
                  <a:pt x="47625" y="305038"/>
                  <a:pt x="85963" y="266700"/>
                  <a:pt x="133350" y="266700"/>
                </a:cubicBezTo>
                <a:lnTo>
                  <a:pt x="276225" y="266700"/>
                </a:lnTo>
                <a:lnTo>
                  <a:pt x="276225" y="190500"/>
                </a:lnTo>
                <a:lnTo>
                  <a:pt x="266700" y="190500"/>
                </a:lnTo>
                <a:cubicBezTo>
                  <a:pt x="245626" y="190500"/>
                  <a:pt x="228600" y="173474"/>
                  <a:pt x="228600" y="152400"/>
                </a:cubicBezTo>
                <a:lnTo>
                  <a:pt x="228600" y="76200"/>
                </a:lnTo>
                <a:close/>
              </a:path>
            </a:pathLst>
          </a:custGeom>
          <a:solidFill>
            <a:srgbClr val="2D6898"/>
          </a:solidFill>
          <a:ln/>
        </p:spPr>
      </p:sp>
      <p:sp>
        <p:nvSpPr>
          <p:cNvPr id="8" name="Text 5"/>
          <p:cNvSpPr/>
          <p:nvPr/>
        </p:nvSpPr>
        <p:spPr>
          <a:xfrm>
            <a:off x="653006" y="1065581"/>
            <a:ext cx="451638" cy="3603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</a:rPr>
              <a:t>系统总体架构图</a:t>
            </a:r>
            <a:endParaRPr lang="en-US" sz="16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9FE4C15-724C-A15D-B354-46FAF4A35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650" y="484816"/>
            <a:ext cx="5887569" cy="5805520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C2074BD0-5663-05AB-1D23-FD1CDDD81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0225" y="1821527"/>
            <a:ext cx="347594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数据处理层（OpenCV 部分）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核心部分，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负责图像采集、特征提取、匹配与深度估计，生成稀疏点云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，并进行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pnp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，三角化增加点云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三维重建层（OpenMVS 部分）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：生成稠密点云并重建三维模型。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可视化层（MeshLab）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：将三维模型进行渲染与展示，供用户交互查看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630" y="254000"/>
            <a:ext cx="11633200" cy="6299200"/>
          </a:xfrm>
          <a:custGeom>
            <a:avLst/>
            <a:gdLst/>
            <a:ahLst/>
            <a:cxnLst/>
            <a:rect l="l" t="t" r="r" b="b"/>
            <a:pathLst>
              <a:path w="11633200" h="6299200">
                <a:moveTo>
                  <a:pt x="101606" y="0"/>
                </a:moveTo>
                <a:lnTo>
                  <a:pt x="11531594" y="0"/>
                </a:lnTo>
                <a:cubicBezTo>
                  <a:pt x="11587709" y="0"/>
                  <a:pt x="11633200" y="45491"/>
                  <a:pt x="11633200" y="101606"/>
                </a:cubicBezTo>
                <a:lnTo>
                  <a:pt x="11633200" y="6197594"/>
                </a:lnTo>
                <a:cubicBezTo>
                  <a:pt x="11633200" y="6253709"/>
                  <a:pt x="11587709" y="6299200"/>
                  <a:pt x="11531594" y="6299200"/>
                </a:cubicBezTo>
                <a:lnTo>
                  <a:pt x="101606" y="6299200"/>
                </a:lnTo>
                <a:cubicBezTo>
                  <a:pt x="45491" y="6299200"/>
                  <a:pt x="0" y="6253709"/>
                  <a:pt x="0" y="61975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EC3D6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5588000" y="2082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91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6820" y="6191"/>
                </a:moveTo>
                <a:cubicBezTo>
                  <a:pt x="294561" y="-2024"/>
                  <a:pt x="315039" y="-2024"/>
                  <a:pt x="332780" y="6191"/>
                </a:cubicBezTo>
                <a:lnTo>
                  <a:pt x="593050" y="126444"/>
                </a:lnTo>
                <a:cubicBezTo>
                  <a:pt x="603171" y="131088"/>
                  <a:pt x="609600" y="141208"/>
                  <a:pt x="609600" y="152400"/>
                </a:cubicBezTo>
                <a:cubicBezTo>
                  <a:pt x="609600" y="163592"/>
                  <a:pt x="603171" y="173712"/>
                  <a:pt x="593050" y="178356"/>
                </a:cubicBezTo>
                <a:lnTo>
                  <a:pt x="332780" y="298609"/>
                </a:lnTo>
                <a:cubicBezTo>
                  <a:pt x="315039" y="306824"/>
                  <a:pt x="294561" y="306824"/>
                  <a:pt x="276820" y="298609"/>
                </a:cubicBezTo>
                <a:lnTo>
                  <a:pt x="16550" y="178356"/>
                </a:lnTo>
                <a:cubicBezTo>
                  <a:pt x="6429" y="173593"/>
                  <a:pt x="0" y="163473"/>
                  <a:pt x="0" y="152400"/>
                </a:cubicBezTo>
                <a:cubicBezTo>
                  <a:pt x="0" y="141327"/>
                  <a:pt x="6429" y="131088"/>
                  <a:pt x="16550" y="126444"/>
                </a:cubicBezTo>
                <a:lnTo>
                  <a:pt x="276820" y="6191"/>
                </a:lnTo>
                <a:close/>
                <a:moveTo>
                  <a:pt x="57269" y="260033"/>
                </a:moveTo>
                <a:lnTo>
                  <a:pt x="252889" y="350401"/>
                </a:lnTo>
                <a:cubicBezTo>
                  <a:pt x="285869" y="365641"/>
                  <a:pt x="323850" y="365641"/>
                  <a:pt x="356830" y="350401"/>
                </a:cubicBezTo>
                <a:lnTo>
                  <a:pt x="552450" y="260033"/>
                </a:lnTo>
                <a:lnTo>
                  <a:pt x="593050" y="278844"/>
                </a:lnTo>
                <a:cubicBezTo>
                  <a:pt x="603171" y="283488"/>
                  <a:pt x="609600" y="293608"/>
                  <a:pt x="609600" y="304800"/>
                </a:cubicBezTo>
                <a:cubicBezTo>
                  <a:pt x="609600" y="315992"/>
                  <a:pt x="603171" y="326112"/>
                  <a:pt x="593050" y="330756"/>
                </a:cubicBezTo>
                <a:lnTo>
                  <a:pt x="332780" y="451009"/>
                </a:lnTo>
                <a:cubicBezTo>
                  <a:pt x="315039" y="459224"/>
                  <a:pt x="294561" y="459224"/>
                  <a:pt x="276820" y="451009"/>
                </a:cubicBezTo>
                <a:lnTo>
                  <a:pt x="16550" y="330756"/>
                </a:lnTo>
                <a:cubicBezTo>
                  <a:pt x="6429" y="325993"/>
                  <a:pt x="0" y="315873"/>
                  <a:pt x="0" y="304800"/>
                </a:cubicBezTo>
                <a:cubicBezTo>
                  <a:pt x="0" y="293727"/>
                  <a:pt x="6429" y="283488"/>
                  <a:pt x="16550" y="278844"/>
                </a:cubicBezTo>
                <a:lnTo>
                  <a:pt x="57150" y="260033"/>
                </a:lnTo>
                <a:close/>
                <a:moveTo>
                  <a:pt x="16550" y="431244"/>
                </a:moveTo>
                <a:lnTo>
                  <a:pt x="57150" y="412433"/>
                </a:lnTo>
                <a:lnTo>
                  <a:pt x="252770" y="502801"/>
                </a:lnTo>
                <a:cubicBezTo>
                  <a:pt x="285750" y="518041"/>
                  <a:pt x="323731" y="518041"/>
                  <a:pt x="356711" y="502801"/>
                </a:cubicBezTo>
                <a:lnTo>
                  <a:pt x="552331" y="412433"/>
                </a:lnTo>
                <a:lnTo>
                  <a:pt x="592931" y="431244"/>
                </a:lnTo>
                <a:cubicBezTo>
                  <a:pt x="603052" y="435888"/>
                  <a:pt x="609481" y="446008"/>
                  <a:pt x="609481" y="457200"/>
                </a:cubicBezTo>
                <a:cubicBezTo>
                  <a:pt x="609481" y="468392"/>
                  <a:pt x="603052" y="478512"/>
                  <a:pt x="592931" y="483156"/>
                </a:cubicBezTo>
                <a:lnTo>
                  <a:pt x="332661" y="603409"/>
                </a:lnTo>
                <a:cubicBezTo>
                  <a:pt x="314920" y="611624"/>
                  <a:pt x="294442" y="611624"/>
                  <a:pt x="276701" y="603409"/>
                </a:cubicBezTo>
                <a:lnTo>
                  <a:pt x="16550" y="483156"/>
                </a:lnTo>
                <a:cubicBezTo>
                  <a:pt x="6429" y="478393"/>
                  <a:pt x="0" y="468273"/>
                  <a:pt x="0" y="457200"/>
                </a:cubicBezTo>
                <a:cubicBezTo>
                  <a:pt x="0" y="446127"/>
                  <a:pt x="6429" y="435888"/>
                  <a:pt x="16550" y="431244"/>
                </a:cubicBezTo>
                <a:close/>
              </a:path>
            </a:pathLst>
          </a:custGeom>
          <a:solidFill>
            <a:srgbClr val="2D6898"/>
          </a:solidFill>
          <a:ln/>
        </p:spPr>
      </p:sp>
      <p:sp>
        <p:nvSpPr>
          <p:cNvPr id="8" name="Text 5"/>
          <p:cNvSpPr/>
          <p:nvPr/>
        </p:nvSpPr>
        <p:spPr>
          <a:xfrm>
            <a:off x="616876" y="1323186"/>
            <a:ext cx="536864" cy="219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</a:rPr>
              <a:t>数据流图</a:t>
            </a:r>
            <a:endParaRPr lang="en-US" sz="16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204C8B1-6068-8538-8D50-1BA0DECDF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162" y="510045"/>
            <a:ext cx="5637437" cy="578710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63AB2EF-F2D5-A282-C17A-39C6468BE0CE}"/>
              </a:ext>
            </a:extLst>
          </p:cNvPr>
          <p:cNvSpPr txBox="1"/>
          <p:nvPr/>
        </p:nvSpPr>
        <p:spPr>
          <a:xfrm>
            <a:off x="7655345" y="1273173"/>
            <a:ext cx="37137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用户输入图像路径，经由 </a:t>
            </a:r>
            <a:r>
              <a:rPr lang="zh-CN" altLang="en-US" b="1" dirty="0"/>
              <a:t>数据采集模块 </a:t>
            </a:r>
            <a:r>
              <a:rPr lang="zh-CN" altLang="en-US" dirty="0"/>
              <a:t>生成图像数据。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图像数据在 </a:t>
            </a:r>
            <a:r>
              <a:rPr lang="zh-CN" altLang="en-US" b="1" dirty="0"/>
              <a:t>相机校准 </a:t>
            </a:r>
            <a:r>
              <a:rPr lang="zh-CN" altLang="en-US" dirty="0"/>
              <a:t>和 </a:t>
            </a:r>
            <a:r>
              <a:rPr lang="zh-CN" altLang="en-US" b="1" dirty="0"/>
              <a:t>特征提取与匹配 </a:t>
            </a:r>
            <a:r>
              <a:rPr lang="zh-CN" altLang="en-US" dirty="0"/>
              <a:t>模块中处理，输出相机参数和匹配对信息。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深度估计模块</a:t>
            </a:r>
            <a:r>
              <a:rPr lang="zh-CN" altLang="en-US" dirty="0"/>
              <a:t>结合相机位姿与匹配数据，计算出稀疏点云。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点云融合 </a:t>
            </a:r>
            <a:r>
              <a:rPr lang="zh-CN" altLang="en-US" dirty="0"/>
              <a:t>将稀疏点云优化生成稠密点云。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表面重建 </a:t>
            </a:r>
            <a:r>
              <a:rPr lang="zh-CN" altLang="en-US" dirty="0"/>
              <a:t>生成三维模型，最后通过 </a:t>
            </a:r>
            <a:r>
              <a:rPr lang="zh-CN" altLang="en-US" b="1" dirty="0"/>
              <a:t>可视化模块 </a:t>
            </a:r>
            <a:r>
              <a:rPr lang="zh-CN" altLang="en-US" dirty="0"/>
              <a:t>输出结果给用户。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54000"/>
            <a:ext cx="11633200" cy="6299200"/>
          </a:xfrm>
          <a:custGeom>
            <a:avLst/>
            <a:gdLst/>
            <a:ahLst/>
            <a:cxnLst/>
            <a:rect l="l" t="t" r="r" b="b"/>
            <a:pathLst>
              <a:path w="11633200" h="6299200">
                <a:moveTo>
                  <a:pt x="101606" y="0"/>
                </a:moveTo>
                <a:lnTo>
                  <a:pt x="11531594" y="0"/>
                </a:lnTo>
                <a:cubicBezTo>
                  <a:pt x="11587709" y="0"/>
                  <a:pt x="11633200" y="45491"/>
                  <a:pt x="11633200" y="101606"/>
                </a:cubicBezTo>
                <a:lnTo>
                  <a:pt x="11633200" y="6197594"/>
                </a:lnTo>
                <a:cubicBezTo>
                  <a:pt x="11633200" y="6253709"/>
                  <a:pt x="11587709" y="6299200"/>
                  <a:pt x="11531594" y="6299200"/>
                </a:cubicBezTo>
                <a:lnTo>
                  <a:pt x="101606" y="6299200"/>
                </a:lnTo>
                <a:cubicBezTo>
                  <a:pt x="45491" y="6299200"/>
                  <a:pt x="0" y="6253709"/>
                  <a:pt x="0" y="61975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EC3D6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5588000" y="1955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53100" y="2159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29578" y="1429"/>
                </a:moveTo>
                <a:cubicBezTo>
                  <a:pt x="409337" y="-4405"/>
                  <a:pt x="388263" y="7382"/>
                  <a:pt x="382429" y="27622"/>
                </a:cubicBezTo>
                <a:lnTo>
                  <a:pt x="230029" y="561023"/>
                </a:lnTo>
                <a:cubicBezTo>
                  <a:pt x="224195" y="581263"/>
                  <a:pt x="235982" y="602337"/>
                  <a:pt x="256223" y="608171"/>
                </a:cubicBezTo>
                <a:cubicBezTo>
                  <a:pt x="276463" y="614005"/>
                  <a:pt x="297537" y="602218"/>
                  <a:pt x="303371" y="581978"/>
                </a:cubicBezTo>
                <a:lnTo>
                  <a:pt x="455771" y="48578"/>
                </a:lnTo>
                <a:cubicBezTo>
                  <a:pt x="461605" y="28337"/>
                  <a:pt x="449818" y="7263"/>
                  <a:pt x="429577" y="1429"/>
                </a:cubicBezTo>
                <a:close/>
                <a:moveTo>
                  <a:pt x="506492" y="163473"/>
                </a:moveTo>
                <a:cubicBezTo>
                  <a:pt x="491609" y="178356"/>
                  <a:pt x="491609" y="202525"/>
                  <a:pt x="506492" y="217408"/>
                </a:cubicBezTo>
                <a:lnTo>
                  <a:pt x="593884" y="304800"/>
                </a:lnTo>
                <a:lnTo>
                  <a:pt x="506492" y="392192"/>
                </a:lnTo>
                <a:cubicBezTo>
                  <a:pt x="491609" y="407075"/>
                  <a:pt x="491609" y="431244"/>
                  <a:pt x="506492" y="446127"/>
                </a:cubicBezTo>
                <a:cubicBezTo>
                  <a:pt x="521375" y="461010"/>
                  <a:pt x="545544" y="461010"/>
                  <a:pt x="560427" y="446127"/>
                </a:cubicBezTo>
                <a:lnTo>
                  <a:pt x="674727" y="331827"/>
                </a:lnTo>
                <a:cubicBezTo>
                  <a:pt x="689610" y="316944"/>
                  <a:pt x="689610" y="292775"/>
                  <a:pt x="674727" y="277892"/>
                </a:cubicBezTo>
                <a:lnTo>
                  <a:pt x="560427" y="163592"/>
                </a:lnTo>
                <a:cubicBezTo>
                  <a:pt x="545544" y="148709"/>
                  <a:pt x="521375" y="148709"/>
                  <a:pt x="506492" y="163592"/>
                </a:cubicBezTo>
                <a:close/>
                <a:moveTo>
                  <a:pt x="179427" y="163473"/>
                </a:moveTo>
                <a:cubicBezTo>
                  <a:pt x="164544" y="148590"/>
                  <a:pt x="140375" y="148590"/>
                  <a:pt x="125492" y="163473"/>
                </a:cubicBezTo>
                <a:lnTo>
                  <a:pt x="11192" y="277773"/>
                </a:lnTo>
                <a:cubicBezTo>
                  <a:pt x="-3691" y="292656"/>
                  <a:pt x="-3691" y="316825"/>
                  <a:pt x="11192" y="331708"/>
                </a:cubicBezTo>
                <a:lnTo>
                  <a:pt x="125492" y="446008"/>
                </a:lnTo>
                <a:cubicBezTo>
                  <a:pt x="140375" y="460891"/>
                  <a:pt x="164544" y="460891"/>
                  <a:pt x="179427" y="446008"/>
                </a:cubicBezTo>
                <a:cubicBezTo>
                  <a:pt x="194310" y="431125"/>
                  <a:pt x="194310" y="406956"/>
                  <a:pt x="179427" y="392073"/>
                </a:cubicBezTo>
                <a:lnTo>
                  <a:pt x="92035" y="304800"/>
                </a:lnTo>
                <a:lnTo>
                  <a:pt x="179308" y="217408"/>
                </a:lnTo>
                <a:cubicBezTo>
                  <a:pt x="194191" y="202525"/>
                  <a:pt x="194191" y="178356"/>
                  <a:pt x="179308" y="163473"/>
                </a:cubicBezTo>
                <a:close/>
              </a:path>
            </a:pathLst>
          </a:custGeom>
          <a:solidFill>
            <a:srgbClr val="2D6898"/>
          </a:solidFill>
          <a:ln/>
        </p:spPr>
      </p:sp>
      <p:sp>
        <p:nvSpPr>
          <p:cNvPr id="8" name="Text 5"/>
          <p:cNvSpPr/>
          <p:nvPr/>
        </p:nvSpPr>
        <p:spPr>
          <a:xfrm>
            <a:off x="4366683" y="32766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详细设计留白页 (一)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95700" y="3835400"/>
            <a:ext cx="530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此页用于填入核心算法流程、数据结构与伪代码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51200" y="4394200"/>
            <a:ext cx="568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内容将深入解析如特征匹配、BA优化等关键算法的技术选型、流程图及实现要点。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54000"/>
            <a:ext cx="11633200" cy="6299200"/>
          </a:xfrm>
          <a:custGeom>
            <a:avLst/>
            <a:gdLst/>
            <a:ahLst/>
            <a:cxnLst/>
            <a:rect l="l" t="t" r="r" b="b"/>
            <a:pathLst>
              <a:path w="11633200" h="6299200">
                <a:moveTo>
                  <a:pt x="101606" y="0"/>
                </a:moveTo>
                <a:lnTo>
                  <a:pt x="11531594" y="0"/>
                </a:lnTo>
                <a:cubicBezTo>
                  <a:pt x="11587709" y="0"/>
                  <a:pt x="11633200" y="45491"/>
                  <a:pt x="11633200" y="101606"/>
                </a:cubicBezTo>
                <a:lnTo>
                  <a:pt x="11633200" y="6197594"/>
                </a:lnTo>
                <a:cubicBezTo>
                  <a:pt x="11633200" y="6253709"/>
                  <a:pt x="11587709" y="6299200"/>
                  <a:pt x="11531594" y="6299200"/>
                </a:cubicBezTo>
                <a:lnTo>
                  <a:pt x="101606" y="6299200"/>
                </a:lnTo>
                <a:cubicBezTo>
                  <a:pt x="45491" y="6299200"/>
                  <a:pt x="0" y="6253709"/>
                  <a:pt x="0" y="61975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EC3D6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5588000" y="1955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29300" y="2159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152400" y="-38100"/>
                </a:moveTo>
                <a:cubicBezTo>
                  <a:pt x="173474" y="-38100"/>
                  <a:pt x="190500" y="-21074"/>
                  <a:pt x="190500" y="0"/>
                </a:cubicBezTo>
                <a:lnTo>
                  <a:pt x="190500" y="114300"/>
                </a:lnTo>
                <a:lnTo>
                  <a:pt x="342900" y="114300"/>
                </a:lnTo>
                <a:lnTo>
                  <a:pt x="342900" y="0"/>
                </a:lnTo>
                <a:cubicBezTo>
                  <a:pt x="342900" y="-21074"/>
                  <a:pt x="359926" y="-38100"/>
                  <a:pt x="381000" y="-38100"/>
                </a:cubicBezTo>
                <a:cubicBezTo>
                  <a:pt x="402074" y="-38100"/>
                  <a:pt x="419100" y="-21074"/>
                  <a:pt x="419100" y="0"/>
                </a:cubicBezTo>
                <a:lnTo>
                  <a:pt x="419100" y="114300"/>
                </a:ln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cubicBezTo>
                  <a:pt x="533400" y="173474"/>
                  <a:pt x="516374" y="190500"/>
                  <a:pt x="495300" y="190500"/>
                </a:cubicBezTo>
                <a:lnTo>
                  <a:pt x="495300" y="266700"/>
                </a:lnTo>
                <a:cubicBezTo>
                  <a:pt x="495300" y="379928"/>
                  <a:pt x="412909" y="473988"/>
                  <a:pt x="304800" y="492085"/>
                </a:cubicBezTo>
                <a:lnTo>
                  <a:pt x="304800" y="571500"/>
                </a:lnTo>
                <a:cubicBezTo>
                  <a:pt x="304800" y="592574"/>
                  <a:pt x="287774" y="609600"/>
                  <a:pt x="266700" y="609600"/>
                </a:cubicBezTo>
                <a:cubicBezTo>
                  <a:pt x="245626" y="609600"/>
                  <a:pt x="228600" y="592574"/>
                  <a:pt x="228600" y="571500"/>
                </a:cubicBezTo>
                <a:lnTo>
                  <a:pt x="228600" y="492085"/>
                </a:lnTo>
                <a:cubicBezTo>
                  <a:pt x="120491" y="473988"/>
                  <a:pt x="38100" y="379928"/>
                  <a:pt x="38100" y="266700"/>
                </a:cubicBezTo>
                <a:lnTo>
                  <a:pt x="38100" y="190500"/>
                </a:lnTo>
                <a:cubicBezTo>
                  <a:pt x="17026" y="190500"/>
                  <a:pt x="0" y="173474"/>
                  <a:pt x="0" y="152400"/>
                </a:cubicBezTo>
                <a:cubicBezTo>
                  <a:pt x="0" y="131326"/>
                  <a:pt x="17026" y="114300"/>
                  <a:pt x="38100" y="114300"/>
                </a:cubicBezTo>
                <a:lnTo>
                  <a:pt x="114300" y="114300"/>
                </a:lnTo>
                <a:lnTo>
                  <a:pt x="114300" y="0"/>
                </a:lnTo>
                <a:cubicBezTo>
                  <a:pt x="114300" y="-21074"/>
                  <a:pt x="131326" y="-38100"/>
                  <a:pt x="152400" y="-38100"/>
                </a:cubicBezTo>
                <a:close/>
              </a:path>
            </a:pathLst>
          </a:custGeom>
          <a:solidFill>
            <a:srgbClr val="2D6898"/>
          </a:solidFill>
          <a:ln/>
        </p:spPr>
      </p:sp>
      <p:sp>
        <p:nvSpPr>
          <p:cNvPr id="8" name="Text 5"/>
          <p:cNvSpPr/>
          <p:nvPr/>
        </p:nvSpPr>
        <p:spPr>
          <a:xfrm>
            <a:off x="4366683" y="32766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详细设计留白页 (二)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52900" y="3835400"/>
            <a:ext cx="439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此页用于补充模块接口定义与性能指标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51200" y="4394200"/>
            <a:ext cx="568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内容将定义模块间的API接口规范、数据格式以及核心性能指标（如精度、耗时）。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54000"/>
            <a:ext cx="11633200" cy="6299200"/>
          </a:xfrm>
          <a:custGeom>
            <a:avLst/>
            <a:gdLst/>
            <a:ahLst/>
            <a:cxnLst/>
            <a:rect l="l" t="t" r="r" b="b"/>
            <a:pathLst>
              <a:path w="11633200" h="6299200">
                <a:moveTo>
                  <a:pt x="101606" y="0"/>
                </a:moveTo>
                <a:lnTo>
                  <a:pt x="11531594" y="0"/>
                </a:lnTo>
                <a:cubicBezTo>
                  <a:pt x="11587709" y="0"/>
                  <a:pt x="11633200" y="45491"/>
                  <a:pt x="11633200" y="101606"/>
                </a:cubicBezTo>
                <a:lnTo>
                  <a:pt x="11633200" y="6197594"/>
                </a:lnTo>
                <a:cubicBezTo>
                  <a:pt x="11633200" y="6253709"/>
                  <a:pt x="11587709" y="6299200"/>
                  <a:pt x="11531594" y="6299200"/>
                </a:cubicBezTo>
                <a:lnTo>
                  <a:pt x="101606" y="6299200"/>
                </a:lnTo>
                <a:cubicBezTo>
                  <a:pt x="45491" y="6299200"/>
                  <a:pt x="0" y="6253709"/>
                  <a:pt x="0" y="61975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EC3D6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5588000" y="2082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0" y="2286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219789" y="489942"/>
                </a:moveTo>
                <a:cubicBezTo>
                  <a:pt x="216098" y="498634"/>
                  <a:pt x="213360" y="507683"/>
                  <a:pt x="211693" y="516850"/>
                </a:cubicBezTo>
                <a:cubicBezTo>
                  <a:pt x="194429" y="527328"/>
                  <a:pt x="174188" y="533400"/>
                  <a:pt x="152400" y="533400"/>
                </a:cubicBezTo>
                <a:cubicBezTo>
                  <a:pt x="89297" y="533400"/>
                  <a:pt x="38100" y="482203"/>
                  <a:pt x="38100" y="419100"/>
                </a:cubicBezTo>
                <a:lnTo>
                  <a:pt x="38100" y="76200"/>
                </a:lnTo>
                <a:cubicBezTo>
                  <a:pt x="17026" y="76200"/>
                  <a:pt x="0" y="59174"/>
                  <a:pt x="0" y="38100"/>
                </a:cubicBezTo>
                <a:cubicBezTo>
                  <a:pt x="0" y="17026"/>
                  <a:pt x="17026" y="0"/>
                  <a:pt x="38100" y="0"/>
                </a:cubicBezTo>
                <a:lnTo>
                  <a:pt x="266700" y="0"/>
                </a:lnTo>
                <a:cubicBezTo>
                  <a:pt x="287774" y="0"/>
                  <a:pt x="304800" y="17026"/>
                  <a:pt x="304800" y="38100"/>
                </a:cubicBezTo>
                <a:cubicBezTo>
                  <a:pt x="304800" y="59174"/>
                  <a:pt x="287774" y="76200"/>
                  <a:pt x="266700" y="76200"/>
                </a:cubicBezTo>
                <a:lnTo>
                  <a:pt x="266700" y="380524"/>
                </a:lnTo>
                <a:lnTo>
                  <a:pt x="219789" y="489942"/>
                </a:lnTo>
                <a:close/>
                <a:moveTo>
                  <a:pt x="114300" y="76200"/>
                </a:moveTo>
                <a:lnTo>
                  <a:pt x="114300" y="228600"/>
                </a:lnTo>
                <a:lnTo>
                  <a:pt x="190500" y="228600"/>
                </a:lnTo>
                <a:lnTo>
                  <a:pt x="190500" y="76200"/>
                </a:lnTo>
                <a:lnTo>
                  <a:pt x="114300" y="76200"/>
                </a:lnTo>
                <a:close/>
                <a:moveTo>
                  <a:pt x="419100" y="0"/>
                </a:moveTo>
                <a:lnTo>
                  <a:pt x="609600" y="0"/>
                </a:lnTo>
                <a:cubicBezTo>
                  <a:pt x="630674" y="0"/>
                  <a:pt x="647700" y="17026"/>
                  <a:pt x="647700" y="38100"/>
                </a:cubicBezTo>
                <a:cubicBezTo>
                  <a:pt x="647700" y="59174"/>
                  <a:pt x="630674" y="76200"/>
                  <a:pt x="609600" y="76200"/>
                </a:cubicBezTo>
                <a:lnTo>
                  <a:pt x="609600" y="258842"/>
                </a:lnTo>
                <a:lnTo>
                  <a:pt x="718304" y="512445"/>
                </a:lnTo>
                <a:cubicBezTo>
                  <a:pt x="721042" y="518874"/>
                  <a:pt x="722828" y="525661"/>
                  <a:pt x="723543" y="532686"/>
                </a:cubicBezTo>
                <a:lnTo>
                  <a:pt x="723900" y="533400"/>
                </a:lnTo>
                <a:lnTo>
                  <a:pt x="723543" y="533400"/>
                </a:lnTo>
                <a:cubicBezTo>
                  <a:pt x="723781" y="535543"/>
                  <a:pt x="723900" y="537686"/>
                  <a:pt x="723900" y="539829"/>
                </a:cubicBezTo>
                <a:cubicBezTo>
                  <a:pt x="723900" y="578287"/>
                  <a:pt x="692706" y="609600"/>
                  <a:pt x="654129" y="609600"/>
                </a:cubicBezTo>
                <a:lnTo>
                  <a:pt x="336352" y="609600"/>
                </a:lnTo>
                <a:cubicBezTo>
                  <a:pt x="297894" y="609600"/>
                  <a:pt x="266581" y="578406"/>
                  <a:pt x="266581" y="539829"/>
                </a:cubicBezTo>
                <a:cubicBezTo>
                  <a:pt x="266581" y="537686"/>
                  <a:pt x="266700" y="535543"/>
                  <a:pt x="266938" y="533400"/>
                </a:cubicBezTo>
                <a:lnTo>
                  <a:pt x="266581" y="533400"/>
                </a:lnTo>
                <a:lnTo>
                  <a:pt x="266938" y="532686"/>
                </a:lnTo>
                <a:cubicBezTo>
                  <a:pt x="267652" y="525780"/>
                  <a:pt x="269438" y="518874"/>
                  <a:pt x="272177" y="512445"/>
                </a:cubicBezTo>
                <a:lnTo>
                  <a:pt x="381000" y="258842"/>
                </a:lnTo>
                <a:lnTo>
                  <a:pt x="381000" y="76200"/>
                </a:lnTo>
                <a:cubicBezTo>
                  <a:pt x="359926" y="76200"/>
                  <a:pt x="342900" y="59174"/>
                  <a:pt x="342900" y="38100"/>
                </a:cubicBezTo>
                <a:cubicBezTo>
                  <a:pt x="342900" y="17026"/>
                  <a:pt x="359926" y="0"/>
                  <a:pt x="381000" y="0"/>
                </a:cubicBezTo>
                <a:lnTo>
                  <a:pt x="419100" y="0"/>
                </a:lnTo>
                <a:close/>
                <a:moveTo>
                  <a:pt x="539591" y="288846"/>
                </a:moveTo>
                <a:cubicBezTo>
                  <a:pt x="535543" y="279321"/>
                  <a:pt x="533400" y="269200"/>
                  <a:pt x="533400" y="258842"/>
                </a:cubicBezTo>
                <a:lnTo>
                  <a:pt x="533400" y="76200"/>
                </a:lnTo>
                <a:lnTo>
                  <a:pt x="457200" y="76200"/>
                </a:lnTo>
                <a:lnTo>
                  <a:pt x="457200" y="258842"/>
                </a:lnTo>
                <a:cubicBezTo>
                  <a:pt x="457200" y="269200"/>
                  <a:pt x="455057" y="279321"/>
                  <a:pt x="451009" y="288846"/>
                </a:cubicBezTo>
                <a:lnTo>
                  <a:pt x="411480" y="381000"/>
                </a:lnTo>
                <a:lnTo>
                  <a:pt x="579001" y="381000"/>
                </a:lnTo>
                <a:lnTo>
                  <a:pt x="539472" y="288846"/>
                </a:lnTo>
                <a:close/>
              </a:path>
            </a:pathLst>
          </a:custGeom>
          <a:solidFill>
            <a:srgbClr val="2D6898"/>
          </a:solidFill>
          <a:ln/>
        </p:spPr>
      </p:sp>
      <p:sp>
        <p:nvSpPr>
          <p:cNvPr id="8" name="Text 5"/>
          <p:cNvSpPr/>
          <p:nvPr/>
        </p:nvSpPr>
        <p:spPr>
          <a:xfrm>
            <a:off x="4366683" y="34036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详细设计留白页 (三)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52900" y="3962400"/>
            <a:ext cx="439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此页用于展示实验参数配置与对比方案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175000" y="452120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内容将记录实验环境、关键参数调优过程及与基线方案的对比分析。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4:40-d3l4kc0s8jdo4os5emkg.png"/>
          <p:cNvPicPr>
            <a:picLocks noChangeAspect="1"/>
          </p:cNvPicPr>
          <p:nvPr/>
        </p:nvPicPr>
        <p:blipFill>
          <a:blip r:embed="rId4"/>
          <a:srcRect t="28475" b="28475"/>
          <a:stretch/>
        </p:blipFill>
        <p:spPr>
          <a:xfrm>
            <a:off x="0" y="2468880"/>
            <a:ext cx="12191365" cy="1835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175" y="3133090"/>
            <a:ext cx="66065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4:39-d3l4kbos8jdo4os5emj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896600" y="897890"/>
            <a:ext cx="762000" cy="762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4:39-d3l4kbos8jdo4os5emj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896600" y="1028700"/>
            <a:ext cx="762000" cy="762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03814" y="5686046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803814" y="5686046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803814" y="5783020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03814" y="578302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803814" y="5879994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03814" y="587999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3" descr="https://kimi-img.moonshot.cn/pub/slides/slides_tmpl/image/25-10-11-20:14:39-d3l4kbos8jdo4os5emj0.png"/>
          <p:cNvPicPr>
            <a:picLocks noChangeAspect="1"/>
          </p:cNvPicPr>
          <p:nvPr/>
        </p:nvPicPr>
        <p:blipFill>
          <a:blip r:embed="rId6"/>
          <a:srcRect l="423" r="423"/>
          <a:stretch/>
        </p:blipFill>
        <p:spPr>
          <a:xfrm flipH="1">
            <a:off x="7372350" y="1739900"/>
            <a:ext cx="3202305" cy="32289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64032" y="2654935"/>
            <a:ext cx="1618942" cy="1398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5233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总结与后续可优化方向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1016000"/>
            <a:ext cx="5638800" cy="5588000"/>
          </a:xfrm>
          <a:custGeom>
            <a:avLst/>
            <a:gdLst/>
            <a:ahLst/>
            <a:cxnLst/>
            <a:rect l="l" t="t" r="r" b="b"/>
            <a:pathLst>
              <a:path w="5638800" h="5588000">
                <a:moveTo>
                  <a:pt x="101590" y="0"/>
                </a:moveTo>
                <a:lnTo>
                  <a:pt x="5537210" y="0"/>
                </a:lnTo>
                <a:cubicBezTo>
                  <a:pt x="5593317" y="0"/>
                  <a:pt x="5638800" y="45483"/>
                  <a:pt x="5638800" y="101590"/>
                </a:cubicBezTo>
                <a:lnTo>
                  <a:pt x="5638800" y="5486410"/>
                </a:lnTo>
                <a:cubicBezTo>
                  <a:pt x="5638800" y="5542517"/>
                  <a:pt x="5593317" y="5588000"/>
                  <a:pt x="5537210" y="5588000"/>
                </a:cubicBezTo>
                <a:lnTo>
                  <a:pt x="101590" y="5588000"/>
                </a:lnTo>
                <a:cubicBezTo>
                  <a:pt x="45483" y="5588000"/>
                  <a:pt x="0" y="5542517"/>
                  <a:pt x="0" y="548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25475" y="1320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2D6898"/>
          </a:solidFill>
          <a:ln/>
        </p:spPr>
      </p:sp>
      <p:sp>
        <p:nvSpPr>
          <p:cNvPr id="8" name="Text 5"/>
          <p:cNvSpPr/>
          <p:nvPr/>
        </p:nvSpPr>
        <p:spPr>
          <a:xfrm>
            <a:off x="1219200" y="13335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项目总结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" y="1955800"/>
            <a:ext cx="50292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成功实现从多视图图像到三维模型的</a:t>
            </a:r>
            <a:r>
              <a:rPr lang="en-US" sz="1600" dirty="0">
                <a:solidFill>
                  <a:srgbClr val="2D6898"/>
                </a:solidFill>
                <a:highlight>
                  <a:srgbClr val="00CC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端到端重建流程 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验证了基于传统几何方法的三维重建在特定场景下的</a:t>
            </a:r>
            <a:r>
              <a:rPr lang="en-US" sz="1600" dirty="0">
                <a:solidFill>
                  <a:srgbClr val="2D6898"/>
                </a:solidFill>
                <a:highlight>
                  <a:srgbClr val="00CC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有效性与精度 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构建了模块化、可扩展的系统架构，为后续迭代奠定基础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99200" y="1016000"/>
            <a:ext cx="5638800" cy="5588000"/>
          </a:xfrm>
          <a:custGeom>
            <a:avLst/>
            <a:gdLst/>
            <a:ahLst/>
            <a:cxnLst/>
            <a:rect l="l" t="t" r="r" b="b"/>
            <a:pathLst>
              <a:path w="5638800" h="5588000">
                <a:moveTo>
                  <a:pt x="101590" y="0"/>
                </a:moveTo>
                <a:lnTo>
                  <a:pt x="5537210" y="0"/>
                </a:lnTo>
                <a:cubicBezTo>
                  <a:pt x="5593317" y="0"/>
                  <a:pt x="5638800" y="45483"/>
                  <a:pt x="5638800" y="101590"/>
                </a:cubicBezTo>
                <a:lnTo>
                  <a:pt x="5638800" y="5486410"/>
                </a:lnTo>
                <a:cubicBezTo>
                  <a:pt x="5638800" y="5542517"/>
                  <a:pt x="5593317" y="5588000"/>
                  <a:pt x="5537210" y="5588000"/>
                </a:cubicBezTo>
                <a:lnTo>
                  <a:pt x="101590" y="5588000"/>
                </a:lnTo>
                <a:cubicBezTo>
                  <a:pt x="45483" y="5588000"/>
                  <a:pt x="0" y="5542517"/>
                  <a:pt x="0" y="548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8EC3D6">
              <a:alpha val="12549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70675" y="1320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2" name="Text 9"/>
          <p:cNvSpPr/>
          <p:nvPr/>
        </p:nvSpPr>
        <p:spPr>
          <a:xfrm>
            <a:off x="7264400" y="13335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后续优化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04000" y="1955800"/>
            <a:ext cx="50292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深度学习融合: 引入深度估计网络提升弱纹理区域性能。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GPU并行加速: 对BA等计算密集型模块进行CUDA优化。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实时重建: 支持在线视频流的实时三维重建。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多传感器融合: 扩展支持IMU、LiDAR等多源数据。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云平台化: 构建云端协同处理与可视化平台。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430" y="14605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4:51-d3l4keos8jdo4os5em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1755" y="911860"/>
            <a:ext cx="40640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2120900"/>
            <a:ext cx="1219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7200" dirty="0">
                <a:solidFill>
                  <a:srgbClr val="2D68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谢谢大家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3340100"/>
            <a:ext cx="1625600" cy="76200"/>
          </a:xfrm>
          <a:custGeom>
            <a:avLst/>
            <a:gdLst/>
            <a:ahLst/>
            <a:cxnLst/>
            <a:rect l="l" t="t" r="r" b="b"/>
            <a:pathLst>
              <a:path w="1625600" h="76200">
                <a:moveTo>
                  <a:pt x="0" y="0"/>
                </a:moveTo>
                <a:lnTo>
                  <a:pt x="1625600" y="0"/>
                </a:lnTo>
                <a:lnTo>
                  <a:pt x="1625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0" name="Text 7"/>
          <p:cNvSpPr/>
          <p:nvPr/>
        </p:nvSpPr>
        <p:spPr>
          <a:xfrm>
            <a:off x="10120974" y="6197600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D68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2025年10月27日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394</Words>
  <Application>Microsoft Office PowerPoint</Application>
  <PresentationFormat>宽屏</PresentationFormat>
  <Paragraphs>135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MiSans</vt:lpstr>
      <vt:lpstr>Noto Sans SC</vt:lpstr>
      <vt:lpstr>Arial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多视觉融合三维重建平台设计报告</dc:title>
  <dc:subject>多视觉融合三维重建平台设计报告</dc:subject>
  <dc:creator>Kimi</dc:creator>
  <cp:lastModifiedBy>时伟 丁</cp:lastModifiedBy>
  <cp:revision>7</cp:revision>
  <dcterms:created xsi:type="dcterms:W3CDTF">2025-10-27T03:20:59Z</dcterms:created>
  <dcterms:modified xsi:type="dcterms:W3CDTF">2025-10-27T03:41:09Z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{"Label":"多视觉融合三维重建平台设计报告","ContentProducer":"001191110108MACG2KBH8F10000","ProduceID":"d3vdrqhnu95891nnfd90","ReservedCode1":"","ContentPropagator":"001191110108MACG2KBH8F20000","PropagateID":"d3vdrqhnu95891nnfd90","ReservedCode2":""}</vt:lpwstr>
  </property>
</Properties>
</file>